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Capa da proposta. O cartão mostra o formato do resultado: score de clima, barra de posição e média por pergunta.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Quem é a Grou e a lógica de atuação: avaliar, mapear e desenvolver.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que é a pesquisa, o que entrega e as três características do formato.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seis problemas que a pesquisa endereça.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cinco etapas. As de contorno ciano são a base; as cinzas, opcionais.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Links de demonstração. A senha vale para os dois ambientes.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relatório online é a entrega incluída na aplicação.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Amostras reais do relatório online, com dados demonstrativos.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entrega complementar: leitura executiva e plano de 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Menu de etapas com investimento unitário.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Proposta fechada com as etapas selecionadas. Trocar [Nome do Cliente].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 e contato comercial.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image" Target="../media/image-6-2.jp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alescoach-site/0652e2a4-bf16-5738-8f3f-fcd4ec6a59db/scratchpad/clima/art/marca-branc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566928"/>
            <a:ext cx="1115568" cy="39319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247327" y="603504"/>
            <a:ext cx="2286000" cy="329184"/>
          </a:xfrm>
          <a:prstGeom prst="roundRect">
            <a:avLst>
              <a:gd name="adj" fmla="val 50000"/>
            </a:avLst>
          </a:prstGeom>
          <a:solidFill>
            <a:srgbClr val="120573"/>
          </a:solidFill>
          <a:ln w="9525">
            <a:solidFill>
              <a:srgbClr val="3A2BA8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9247327" y="60350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60" kern="0" dirty="0">
                <a:solidFill>
                  <a:srgbClr val="C9D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PROPOSTA COMERCIAL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658368" y="184708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6CD8C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PESQUISA DE CLIMA E FEEDBACK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658368" y="2157984"/>
            <a:ext cx="5852160" cy="874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4400" dirty="0">
                <a:solidFill>
                  <a:srgbClr val="E6EA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Seu time tem </a:t>
            </a:r>
            <a:endParaRPr lang="en-US" sz="4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muito a dizer.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658368" y="3822192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300" dirty="0">
                <a:solidFill>
                  <a:srgbClr val="AEB8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Perguntas certas, respostas anônimas e todos os resultados em um único relatório — prontos para virar plano de ação.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58368" y="4956048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0E0A48"/>
          </a:solidFill>
          <a:ln w="9525">
            <a:solidFill>
              <a:srgbClr val="2A217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58368" y="495604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60" kern="0" dirty="0">
                <a:solidFill>
                  <a:srgbClr val="6CD8C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≈ 7 minutos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212848" y="4956048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0E0A48"/>
          </a:solidFill>
          <a:ln w="9525">
            <a:solidFill>
              <a:srgbClr val="2A217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212848" y="495604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60" kern="0" dirty="0">
                <a:solidFill>
                  <a:srgbClr val="6CD8C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100% anônima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904488" y="4956048"/>
            <a:ext cx="2011680" cy="310896"/>
          </a:xfrm>
          <a:prstGeom prst="roundRect">
            <a:avLst>
              <a:gd name="adj" fmla="val 50000"/>
            </a:avLst>
          </a:prstGeom>
          <a:solidFill>
            <a:srgbClr val="0E0A48"/>
          </a:solidFill>
          <a:ln w="9525">
            <a:solidFill>
              <a:srgbClr val="2A217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904488" y="495604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60" kern="0" dirty="0">
                <a:solidFill>
                  <a:srgbClr val="6CD8C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Até 100 avaliadores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903720" y="1572768"/>
            <a:ext cx="4626864" cy="3986784"/>
          </a:xfrm>
          <a:prstGeom prst="roundRect">
            <a:avLst>
              <a:gd name="adj" fmla="val 458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30200" dist="127000" dir="5400000">
              <a:srgbClr val="0C0A2E">
                <a:alpha val="40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7287768" y="195681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B8FA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SCORE DE CLIMA</a:t>
            </a:r>
            <a:endParaRPr lang="en-US" sz="850" dirty="0"/>
          </a:p>
        </p:txBody>
      </p:sp>
      <p:sp>
        <p:nvSpPr>
          <p:cNvPr id="16" name="Text 13"/>
          <p:cNvSpPr txBox="1"/>
          <p:nvPr/>
        </p:nvSpPr>
        <p:spPr>
          <a:xfrm>
            <a:off x="7287768" y="2231136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600" b="1" dirty="0">
                <a:solidFill>
                  <a:srgbClr val="12057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80</a:t>
            </a:r>
            <a:pPr indent="0" marL="0">
              <a:buNone/>
            </a:pPr>
            <a:r>
              <a:rPr lang="en-US" sz="1300" dirty="0">
                <a:solidFill>
                  <a:srgbClr val="8B8FA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de 100</a:t>
            </a:r>
            <a:endParaRPr lang="en-US" sz="4600" dirty="0"/>
          </a:p>
        </p:txBody>
      </p:sp>
      <p:sp>
        <p:nvSpPr>
          <p:cNvPr id="17" name="Shape 14"/>
          <p:cNvSpPr/>
          <p:nvPr/>
        </p:nvSpPr>
        <p:spPr>
          <a:xfrm>
            <a:off x="10049256" y="2395728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E8F9F6"/>
          </a:solidFill>
          <a:ln w="9525">
            <a:solidFill>
              <a:srgbClr val="6CD8C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049256" y="23957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20" kern="0" dirty="0">
                <a:solidFill>
                  <a:srgbClr val="0F87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SAUDÁVEL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7287768" y="3108960"/>
            <a:ext cx="3858768" cy="128016"/>
          </a:xfrm>
          <a:prstGeom prst="roundRect">
            <a:avLst>
              <a:gd name="adj" fmla="val 50000"/>
            </a:avLst>
          </a:prstGeom>
          <a:solidFill>
            <a:srgbClr val="EEF1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287768" y="3108960"/>
            <a:ext cx="3087014" cy="128016"/>
          </a:xfrm>
          <a:prstGeom prst="roundRect">
            <a:avLst>
              <a:gd name="adj" fmla="val 50000"/>
            </a:avLst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287768" y="34747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B8FA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MÉDIA POR PERGUNTA</a:t>
            </a:r>
            <a:endParaRPr lang="en-US" sz="850" dirty="0"/>
          </a:p>
        </p:txBody>
      </p:sp>
      <p:sp>
        <p:nvSpPr>
          <p:cNvPr id="22" name="Text 19"/>
          <p:cNvSpPr txBox="1"/>
          <p:nvPr/>
        </p:nvSpPr>
        <p:spPr>
          <a:xfrm>
            <a:off x="7287768" y="378561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D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comunicação entre áreas funciona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9829800" y="3849624"/>
            <a:ext cx="932688" cy="91440"/>
          </a:xfrm>
          <a:prstGeom prst="roundRect">
            <a:avLst>
              <a:gd name="adj" fmla="val 50000"/>
            </a:avLst>
          </a:prstGeom>
          <a:solidFill>
            <a:srgbClr val="EEF1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9829800" y="3849624"/>
            <a:ext cx="578267" cy="91440"/>
          </a:xfrm>
          <a:prstGeom prst="roundRect">
            <a:avLst>
              <a:gd name="adj" fmla="val 50000"/>
            </a:avLst>
          </a:prstGeom>
          <a:solidFill>
            <a:srgbClr val="B9C2D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835640" y="378561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C0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3,61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7287768" y="420624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D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Promoções acontecem de forma justa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9829800" y="4270248"/>
            <a:ext cx="932688" cy="91440"/>
          </a:xfrm>
          <a:prstGeom prst="roundRect">
            <a:avLst>
              <a:gd name="adj" fmla="val 50000"/>
            </a:avLst>
          </a:prstGeom>
          <a:solidFill>
            <a:srgbClr val="EEF1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9829800" y="4270248"/>
            <a:ext cx="615574" cy="91440"/>
          </a:xfrm>
          <a:prstGeom prst="roundRect">
            <a:avLst>
              <a:gd name="adj" fmla="val 50000"/>
            </a:avLst>
          </a:prstGeom>
          <a:solidFill>
            <a:srgbClr val="B9C2D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10835640" y="420624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C0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3,70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7287768" y="462686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D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Existe um bom espírito de equipe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9829800" y="4690872"/>
            <a:ext cx="932688" cy="91440"/>
          </a:xfrm>
          <a:prstGeom prst="roundRect">
            <a:avLst>
              <a:gd name="adj" fmla="val 50000"/>
            </a:avLst>
          </a:prstGeom>
          <a:solidFill>
            <a:srgbClr val="EEF1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9829800" y="4690872"/>
            <a:ext cx="690189" cy="91440"/>
          </a:xfrm>
          <a:prstGeom prst="roundRect">
            <a:avLst>
              <a:gd name="adj" fmla="val 50000"/>
            </a:avLst>
          </a:prstGeom>
          <a:solidFill>
            <a:srgbClr val="6CD8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0835640" y="462686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C0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3,87</a:t>
            </a:r>
            <a:endParaRPr lang="en-US" sz="900" dirty="0"/>
          </a:p>
        </p:txBody>
      </p:sp>
      <p:sp>
        <p:nvSpPr>
          <p:cNvPr id="34" name="Text 31"/>
          <p:cNvSpPr txBox="1"/>
          <p:nvPr/>
        </p:nvSpPr>
        <p:spPr>
          <a:xfrm>
            <a:off x="7287768" y="504748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D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Recebo feedbacks construtivos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9829800" y="5111496"/>
            <a:ext cx="932688" cy="91440"/>
          </a:xfrm>
          <a:prstGeom prst="roundRect">
            <a:avLst>
              <a:gd name="adj" fmla="val 50000"/>
            </a:avLst>
          </a:prstGeom>
          <a:solidFill>
            <a:srgbClr val="EEF1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9829800" y="5111496"/>
            <a:ext cx="802112" cy="91440"/>
          </a:xfrm>
          <a:prstGeom prst="roundRect">
            <a:avLst>
              <a:gd name="adj" fmla="val 50000"/>
            </a:avLst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835640" y="50474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C0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4,13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65836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0F877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QUEM SOMOS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50976"/>
            <a:ext cx="6400800" cy="6162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100" dirty="0">
                <a:solidFill>
                  <a:srgbClr val="0C0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Especialistas em </a:t>
            </a:r>
            <a:endParaRPr lang="en-US" sz="3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100" b="1" dirty="0">
                <a:solidFill>
                  <a:srgbClr val="0C0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gestão comportamental.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2139696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150" dirty="0">
                <a:solidFill>
                  <a:srgbClr val="4A4D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Grou conta com especialistas comportamentais que impulsionam RH e lideranças na transformação da gestão comportamental.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2944368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150" dirty="0">
                <a:solidFill>
                  <a:srgbClr val="4A4D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consultoria, também executamos processos de desenvolvimento e capacitação para líderes, times e colaboradores.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4005072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12057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+1.000</a:t>
            </a:r>
            <a:endParaRPr lang="en-US" sz="3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A4D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empresas já confiam na Grou para impulsionar</a:t>
            </a:r>
            <a:endParaRPr lang="en-US" sz="3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A4D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gestão comportamental.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6126480" y="987552"/>
            <a:ext cx="5406847" cy="969264"/>
          </a:xfrm>
          <a:prstGeom prst="roundRect">
            <a:avLst>
              <a:gd name="adj" fmla="val 13208"/>
            </a:avLst>
          </a:prstGeom>
          <a:solidFill>
            <a:srgbClr val="FFFFFF"/>
          </a:solidFill>
          <a:ln w="9525">
            <a:solidFill>
              <a:srgbClr val="E4E7F0"/>
            </a:solidFill>
            <a:prstDash val="solid"/>
          </a:ln>
          <a:effectLst>
            <a:outerShdw sx="100000" sy="100000" kx="0" ky="0" algn="bl" rotWithShape="0" blurRad="127000" dist="38100" dir="5400000">
              <a:srgbClr val="0C0A2E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364224" y="1234440"/>
            <a:ext cx="475488" cy="475488"/>
          </a:xfrm>
          <a:prstGeom prst="roundRect">
            <a:avLst>
              <a:gd name="adj" fmla="val 23077"/>
            </a:avLst>
          </a:prstGeom>
          <a:solidFill>
            <a:srgbClr val="1205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64224" y="1234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004304" y="1170432"/>
            <a:ext cx="426384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C0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Avaliar 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4D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 as tecnologias de assessment mais completas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26480" y="2157984"/>
            <a:ext cx="5406847" cy="969264"/>
          </a:xfrm>
          <a:prstGeom prst="roundRect">
            <a:avLst>
              <a:gd name="adj" fmla="val 13208"/>
            </a:avLst>
          </a:prstGeom>
          <a:solidFill>
            <a:srgbClr val="FFFFFF"/>
          </a:solidFill>
          <a:ln w="9525">
            <a:solidFill>
              <a:srgbClr val="E4E7F0"/>
            </a:solidFill>
            <a:prstDash val="solid"/>
          </a:ln>
          <a:effectLst>
            <a:outerShdw sx="100000" sy="100000" kx="0" ky="0" algn="bl" rotWithShape="0" blurRad="127000" dist="38100" dir="5400000">
              <a:srgbClr val="0C0A2E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64224" y="2404872"/>
            <a:ext cx="475488" cy="475488"/>
          </a:xfrm>
          <a:prstGeom prst="roundRect">
            <a:avLst>
              <a:gd name="adj" fmla="val 23077"/>
            </a:avLst>
          </a:prstGeom>
          <a:solidFill>
            <a:srgbClr val="1205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64224" y="24048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004304" y="2340864"/>
            <a:ext cx="426384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C0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Mapear 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4D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perfis, potencial e clima com dados objetivos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26480" y="3328416"/>
            <a:ext cx="5406847" cy="969264"/>
          </a:xfrm>
          <a:prstGeom prst="roundRect">
            <a:avLst>
              <a:gd name="adj" fmla="val 13208"/>
            </a:avLst>
          </a:prstGeom>
          <a:solidFill>
            <a:srgbClr val="FFFFFF"/>
          </a:solidFill>
          <a:ln w="9525">
            <a:solidFill>
              <a:srgbClr val="E4E7F0"/>
            </a:solidFill>
            <a:prstDash val="solid"/>
          </a:ln>
          <a:effectLst>
            <a:outerShdw sx="100000" sy="100000" kx="0" ky="0" algn="bl" rotWithShape="0" blurRad="127000" dist="38100" dir="5400000">
              <a:srgbClr val="0C0A2E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64224" y="3575304"/>
            <a:ext cx="475488" cy="475488"/>
          </a:xfrm>
          <a:prstGeom prst="roundRect">
            <a:avLst>
              <a:gd name="adj" fmla="val 23077"/>
            </a:avLst>
          </a:prstGeom>
          <a:solidFill>
            <a:srgbClr val="1205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64224" y="35753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004304" y="3511296"/>
            <a:ext cx="426384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C0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Desenvolver 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4D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pessoas e empresas com planos de ação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126480" y="4498848"/>
            <a:ext cx="540684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60" kern="0" dirty="0">
                <a:solidFill>
                  <a:srgbClr val="8B8FA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ALGUMAS DAS EMPRESAS QUE JÁ CONFIARAM NA GROU</a:t>
            </a:r>
            <a:endParaRPr lang="en-US" sz="800" dirty="0"/>
          </a:p>
        </p:txBody>
      </p:sp>
      <p:pic>
        <p:nvPicPr>
          <p:cNvPr id="20" name="Image 0" descr="/tmp/claude-0/-home-user-salescoach-site/0652e2a4-bf16-5738-8f3f-fcd4ec6a59db/scratchpad/clima/art/clientes/ambev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63056" y="4864608"/>
            <a:ext cx="1060704" cy="365760"/>
          </a:xfrm>
          <a:prstGeom prst="rect">
            <a:avLst/>
          </a:prstGeom>
        </p:spPr>
      </p:pic>
      <p:pic>
        <p:nvPicPr>
          <p:cNvPr id="21" name="Image 1" descr="/tmp/claude-0/-home-user-salescoach-site/0652e2a4-bf16-5738-8f3f-fcd4ec6a59db/scratchpad/clima/art/clientes/gerdau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589520" y="4864608"/>
            <a:ext cx="1060704" cy="365760"/>
          </a:xfrm>
          <a:prstGeom prst="rect">
            <a:avLst/>
          </a:prstGeom>
        </p:spPr>
      </p:pic>
      <p:pic>
        <p:nvPicPr>
          <p:cNvPr id="22" name="Image 2" descr="/tmp/claude-0/-home-user-salescoach-site/0652e2a4-bf16-5738-8f3f-fcd4ec6a59db/scratchpad/clima/art/clientes/sicredi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015984" y="4864608"/>
            <a:ext cx="1060704" cy="365760"/>
          </a:xfrm>
          <a:prstGeom prst="rect">
            <a:avLst/>
          </a:prstGeom>
        </p:spPr>
      </p:pic>
      <p:pic>
        <p:nvPicPr>
          <p:cNvPr id="23" name="Image 3" descr="/tmp/claude-0/-home-user-salescoach-site/0652e2a4-bf16-5738-8f3f-fcd4ec6a59db/scratchpad/clima/art/clientes/arezzo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0442448" y="4864608"/>
            <a:ext cx="1060704" cy="365760"/>
          </a:xfrm>
          <a:prstGeom prst="rect">
            <a:avLst/>
          </a:prstGeom>
        </p:spPr>
      </p:pic>
      <p:pic>
        <p:nvPicPr>
          <p:cNvPr id="24" name="Image 4" descr="/tmp/claude-0/-home-user-salescoach-site/0652e2a4-bf16-5738-8f3f-fcd4ec6a59db/scratchpad/clima/art/clientes/ailos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6163056" y="5413248"/>
            <a:ext cx="1060704" cy="365760"/>
          </a:xfrm>
          <a:prstGeom prst="rect">
            <a:avLst/>
          </a:prstGeom>
        </p:spPr>
      </p:pic>
      <p:pic>
        <p:nvPicPr>
          <p:cNvPr id="25" name="Image 5" descr="/tmp/claude-0/-home-user-salescoach-site/0652e2a4-bf16-5738-8f3f-fcd4ec6a59db/scratchpad/clima/art/clientes/johndeere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7589520" y="5413248"/>
            <a:ext cx="1060704" cy="365760"/>
          </a:xfrm>
          <a:prstGeom prst="rect">
            <a:avLst/>
          </a:prstGeom>
        </p:spPr>
      </p:pic>
      <p:pic>
        <p:nvPicPr>
          <p:cNvPr id="26" name="Image 6" descr="/tmp/claude-0/-home-user-salescoach-site/0652e2a4-bf16-5738-8f3f-fcd4ec6a59db/scratchpad/clima/art/clientes/sodexo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9015984" y="5413248"/>
            <a:ext cx="1060704" cy="365760"/>
          </a:xfrm>
          <a:prstGeom prst="rect">
            <a:avLst/>
          </a:prstGeom>
        </p:spPr>
      </p:pic>
      <p:pic>
        <p:nvPicPr>
          <p:cNvPr id="27" name="Image 7" descr="/tmp/claude-0/-home-user-salescoach-site/0652e2a4-bf16-5738-8f3f-fcd4ec6a59db/scratchpad/clima/art/clientes/yara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10442448" y="5413248"/>
            <a:ext cx="1060704" cy="365760"/>
          </a:xfrm>
          <a:prstGeom prst="rect">
            <a:avLst/>
          </a:prstGeom>
        </p:spPr>
      </p:pic>
      <p:pic>
        <p:nvPicPr>
          <p:cNvPr id="28" name="Image 8" descr="/tmp/claude-0/-home-user-salescoach-site/0652e2a4-bf16-5738-8f3f-fcd4ec6a59db/scratchpad/clima/art/marca-tinta.png">    </p:cNvPr>
          <p:cNvPicPr>
            <a:picLocks noChangeAspect="1"/>
          </p:cNvPicPr>
          <p:nvPr/>
        </p:nvPicPr>
        <p:blipFill>
          <a:blip r:embed="rId10">
            <a:alphaModFix amt="45000"/>
          </a:blip>
          <a:stretch>
            <a:fillRect/>
          </a:stretch>
        </p:blipFill>
        <p:spPr>
          <a:xfrm>
            <a:off x="658368" y="6291072"/>
            <a:ext cx="566928" cy="201168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1371600" y="6272784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60" kern="0" dirty="0">
                <a:solidFill>
                  <a:srgbClr val="8B8F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PROPOSTA COMERCIAL  ·  PESQUISA DE CLIMA E FEEDBACK</a:t>
            </a:r>
            <a:endParaRPr lang="en-US" sz="750" dirty="0"/>
          </a:p>
        </p:txBody>
      </p:sp>
      <p:sp>
        <p:nvSpPr>
          <p:cNvPr id="30" name="Text 19"/>
          <p:cNvSpPr txBox="1"/>
          <p:nvPr/>
        </p:nvSpPr>
        <p:spPr>
          <a:xfrm>
            <a:off x="10618927" y="627278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8B8FA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65836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0F877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SOLUÇÃO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50976"/>
            <a:ext cx="5486400" cy="6162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100" dirty="0">
                <a:solidFill>
                  <a:srgbClr val="0C0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Pesquisa de </a:t>
            </a:r>
            <a:endParaRPr lang="en-US" sz="3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100" b="1" dirty="0">
                <a:solidFill>
                  <a:srgbClr val="0C0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Clima e Feedback.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2432304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200" dirty="0">
                <a:solidFill>
                  <a:srgbClr val="4A4D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Ouvir de forma estruturada e confidencial o que os colaboradores pensam sobre clima, liderança, comunicação e cultura — e transformar as respostas em um plano de ação priorizado.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376732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057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até 100</a:t>
            </a:r>
            <a:pPr indent="0" marL="0">
              <a:buNone/>
            </a:pPr>
            <a:r>
              <a:rPr lang="en-US" sz="1000" dirty="0">
                <a:solidFill>
                  <a:srgbClr val="4A4D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avaliadores por aplicação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58368" y="4279392"/>
            <a:ext cx="4754880" cy="0"/>
          </a:xfrm>
          <a:prstGeom prst="line">
            <a:avLst/>
          </a:prstGeom>
          <a:noFill/>
          <a:ln w="9525">
            <a:solidFill>
              <a:srgbClr val="E4E7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451713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057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online</a:t>
            </a:r>
            <a:pPr indent="0" marL="0">
              <a:buNone/>
            </a:pPr>
            <a:r>
              <a:rPr lang="en-US" sz="1000" dirty="0">
                <a:solidFill>
                  <a:srgbClr val="4A4D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aplicação por link, em qualquer dispositivo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58368" y="5029200"/>
            <a:ext cx="4754880" cy="0"/>
          </a:xfrm>
          <a:prstGeom prst="line">
            <a:avLst/>
          </a:prstGeom>
          <a:noFill/>
          <a:ln w="9525">
            <a:solidFill>
              <a:srgbClr val="E4E7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" y="526694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057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modular</a:t>
            </a:r>
            <a:pPr indent="0" marL="0">
              <a:buNone/>
            </a:pPr>
            <a:r>
              <a:rPr lang="en-US" sz="1000" dirty="0">
                <a:solidFill>
                  <a:srgbClr val="4A4D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você escolhe as etapas do projeto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943600" y="896112"/>
            <a:ext cx="5589727" cy="4882896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4E7F0"/>
            </a:solidFill>
            <a:prstDash val="solid"/>
          </a:ln>
          <a:effectLst>
            <a:outerShdw sx="100000" sy="100000" kx="0" ky="0" algn="bl" rotWithShape="0" blurRad="203200" dist="63500" dir="5400000">
              <a:srgbClr val="0C0A2E">
                <a:alpha val="9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327648" y="1243584"/>
            <a:ext cx="48216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F877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ESTÁ INCLUÍDO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327648" y="1737360"/>
            <a:ext cx="237744" cy="237744"/>
          </a:xfrm>
          <a:prstGeom prst="ellipse">
            <a:avLst/>
          </a:prstGeom>
          <a:solidFill>
            <a:srgbClr val="E8F9F6"/>
          </a:solidFill>
          <a:ln w="9525">
            <a:solidFill>
              <a:srgbClr val="6CD8C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27648" y="17373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87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6711696" y="1700784"/>
            <a:ext cx="443758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100" b="1" dirty="0">
                <a:solidFill>
                  <a:srgbClr val="0C0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Aplicação 100% online
</a:t>
            </a:r>
            <a:endParaRPr lang="en-US" sz="11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100" dirty="0">
                <a:solidFill>
                  <a:srgbClr val="4A4D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acessada por link, com anonimato garantido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27648" y="2523744"/>
            <a:ext cx="237744" cy="237744"/>
          </a:xfrm>
          <a:prstGeom prst="ellipse">
            <a:avLst/>
          </a:prstGeom>
          <a:solidFill>
            <a:srgbClr val="E8F9F6"/>
          </a:solidFill>
          <a:ln w="9525">
            <a:solidFill>
              <a:srgbClr val="6CD8C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27648" y="252374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87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6711696" y="2487168"/>
            <a:ext cx="443758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100" b="1" dirty="0">
                <a:solidFill>
                  <a:srgbClr val="0C0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Perguntas de escala (1 a 5)
</a:t>
            </a:r>
            <a:endParaRPr lang="en-US" sz="11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100" dirty="0">
                <a:solidFill>
                  <a:srgbClr val="4A4D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objetivas, abertas e de contexto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27648" y="3310128"/>
            <a:ext cx="237744" cy="237744"/>
          </a:xfrm>
          <a:prstGeom prst="ellipse">
            <a:avLst/>
          </a:prstGeom>
          <a:solidFill>
            <a:srgbClr val="E8F9F6"/>
          </a:solidFill>
          <a:ln w="9525">
            <a:solidFill>
              <a:srgbClr val="6CD8C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27648" y="33101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87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6711696" y="3273552"/>
            <a:ext cx="443758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100" b="1" dirty="0">
                <a:solidFill>
                  <a:srgbClr val="0C0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Relatório online
</a:t>
            </a:r>
            <a:endParaRPr lang="en-US" sz="11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100" dirty="0">
                <a:solidFill>
                  <a:srgbClr val="4A4D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panorama geral, eNPS e resultado de cada pergunta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327648" y="4096512"/>
            <a:ext cx="237744" cy="237744"/>
          </a:xfrm>
          <a:prstGeom prst="ellipse">
            <a:avLst/>
          </a:prstGeom>
          <a:solidFill>
            <a:srgbClr val="E8F9F6"/>
          </a:solidFill>
          <a:ln w="9525">
            <a:solidFill>
              <a:srgbClr val="6CD8C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327648" y="40965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87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6711696" y="4059936"/>
            <a:ext cx="443758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100" b="1" dirty="0">
                <a:solidFill>
                  <a:srgbClr val="0C0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Opcional: relatório de RH
</a:t>
            </a:r>
            <a:endParaRPr lang="en-US" sz="11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100" dirty="0">
                <a:solidFill>
                  <a:srgbClr val="4A4D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 plano de ação e devolutivas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27648" y="4882896"/>
            <a:ext cx="4821631" cy="621792"/>
          </a:xfrm>
          <a:prstGeom prst="roundRect">
            <a:avLst>
              <a:gd name="adj" fmla="val 17647"/>
            </a:avLst>
          </a:prstGeom>
          <a:solidFill>
            <a:srgbClr val="E8F9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65392" y="4882896"/>
            <a:ext cx="4346143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0F87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Respostas 100% anônimas.  </a:t>
            </a:r>
            <a:pPr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4A4D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Grupos pequenos demais para garantir o anonimato não aparecem separados.</a:t>
            </a:r>
            <a:endParaRPr lang="en-US" sz="950" dirty="0"/>
          </a:p>
        </p:txBody>
      </p:sp>
      <p:pic>
        <p:nvPicPr>
          <p:cNvPr id="26" name="Image 0" descr="/tmp/claude-0/-home-user-salescoach-site/0652e2a4-bf16-5738-8f3f-fcd4ec6a59db/scratchpad/clima/art/marca-tinta.png">    </p:cNvPr>
          <p:cNvPicPr>
            <a:picLocks noChangeAspect="1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>
            <a:off x="658368" y="6291072"/>
            <a:ext cx="566928" cy="201168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1371600" y="6272784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60" kern="0" dirty="0">
                <a:solidFill>
                  <a:srgbClr val="8B8F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PROPOSTA COMERCIAL  ·  PESQUISA DE CLIMA E FEEDBACK</a:t>
            </a:r>
            <a:endParaRPr lang="en-US" sz="750" dirty="0"/>
          </a:p>
        </p:txBody>
      </p:sp>
      <p:sp>
        <p:nvSpPr>
          <p:cNvPr id="28" name="Text 25"/>
          <p:cNvSpPr txBox="1"/>
          <p:nvPr/>
        </p:nvSpPr>
        <p:spPr>
          <a:xfrm>
            <a:off x="10618927" y="627278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8B8FA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65836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0F877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POR QUE FAZER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50976"/>
            <a:ext cx="7315200" cy="6162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100" dirty="0">
                <a:solidFill>
                  <a:srgbClr val="0C0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a pesquisa </a:t>
            </a:r>
            <a:pPr indent="0" marL="0">
              <a:lnSpc>
                <a:spcPct val="108000"/>
              </a:lnSpc>
              <a:buNone/>
            </a:pPr>
            <a:r>
              <a:rPr lang="en-US" sz="3100" b="1" dirty="0">
                <a:solidFill>
                  <a:srgbClr val="0C0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resolve.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58368" y="2212848"/>
            <a:ext cx="3356762" cy="1755648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9525">
            <a:solidFill>
              <a:srgbClr val="E4E7F0"/>
            </a:solidFill>
            <a:prstDash val="solid"/>
          </a:ln>
          <a:effectLst>
            <a:outerShdw sx="100000" sy="100000" kx="0" ky="0" algn="bl" rotWithShape="0" blurRad="127000" dist="38100" dir="5400000">
              <a:srgbClr val="0C0A2E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243230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F877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724912"/>
            <a:ext cx="2844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b="1" dirty="0">
                <a:solidFill>
                  <a:srgbClr val="0C0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Decisões no escuro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200400"/>
            <a:ext cx="28446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4D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Gestão da empresa e das pessoas baseada em percepção, e não em dados.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417466" y="2212848"/>
            <a:ext cx="3356762" cy="1755648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9525">
            <a:solidFill>
              <a:srgbClr val="E4E7F0"/>
            </a:solidFill>
            <a:prstDash val="solid"/>
          </a:ln>
          <a:effectLst>
            <a:outerShdw sx="100000" sy="100000" kx="0" ky="0" algn="bl" rotWithShape="0" blurRad="127000" dist="38100" dir="5400000">
              <a:srgbClr val="0C0A2E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673498" y="243230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F877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673498" y="2724912"/>
            <a:ext cx="2844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b="1" dirty="0">
                <a:solidFill>
                  <a:srgbClr val="0C0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Engajamento sem causa clara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4673498" y="3200400"/>
            <a:ext cx="28446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4D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Falta de clareza sobre o que impacta engajamento e retenção.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176565" y="2212848"/>
            <a:ext cx="3356762" cy="1755648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9525">
            <a:solidFill>
              <a:srgbClr val="E4E7F0"/>
            </a:solidFill>
            <a:prstDash val="solid"/>
          </a:ln>
          <a:effectLst>
            <a:outerShdw sx="100000" sy="100000" kx="0" ky="0" algn="bl" rotWithShape="0" blurRad="127000" dist="38100" dir="5400000">
              <a:srgbClr val="0C0A2E">
                <a:alpha val="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432597" y="243230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F877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8432597" y="2724912"/>
            <a:ext cx="2844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b="1" dirty="0">
                <a:solidFill>
                  <a:srgbClr val="0C0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Ruídos de comunicação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8432597" y="3200400"/>
            <a:ext cx="28446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4D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Distância entre o que a liderança diz e o que as equipes entendem.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58368" y="4334256"/>
            <a:ext cx="3356762" cy="1755648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9525">
            <a:solidFill>
              <a:srgbClr val="E4E7F0"/>
            </a:solidFill>
            <a:prstDash val="solid"/>
          </a:ln>
          <a:effectLst>
            <a:outerShdw sx="100000" sy="100000" kx="0" ky="0" algn="bl" rotWithShape="0" blurRad="127000" dist="38100" dir="5400000">
              <a:srgbClr val="0C0A2E">
                <a:alpha val="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14400" y="455371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F877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4846320"/>
            <a:ext cx="2844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b="1" dirty="0">
                <a:solidFill>
                  <a:srgbClr val="0C0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Feedback sem estrutura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914400" y="5321808"/>
            <a:ext cx="28446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4D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Sem um canal seguro e confidencial para ouvir o colaborador.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417466" y="4334256"/>
            <a:ext cx="3356762" cy="1755648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9525">
            <a:solidFill>
              <a:srgbClr val="E4E7F0"/>
            </a:solidFill>
            <a:prstDash val="solid"/>
          </a:ln>
          <a:effectLst>
            <a:outerShdw sx="100000" sy="100000" kx="0" ky="0" algn="bl" rotWithShape="0" blurRad="127000" dist="38100" dir="5400000">
              <a:srgbClr val="0C0A2E">
                <a:alpha val="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4673498" y="455371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F877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05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4673498" y="4846320"/>
            <a:ext cx="2844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b="1" dirty="0">
                <a:solidFill>
                  <a:srgbClr val="0C0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Prioridades difusas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4673498" y="5321808"/>
            <a:ext cx="28446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4D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Dificuldade em escolher onde investir tempo e orçamento.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176565" y="4334256"/>
            <a:ext cx="3356762" cy="1755648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9525">
            <a:solidFill>
              <a:srgbClr val="E4E7F0"/>
            </a:solidFill>
            <a:prstDash val="solid"/>
          </a:ln>
          <a:effectLst>
            <a:outerShdw sx="100000" sy="100000" kx="0" ky="0" algn="bl" rotWithShape="0" blurRad="127000" dist="38100" dir="5400000">
              <a:srgbClr val="0C0A2E">
                <a:alpha val="8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432597" y="455371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F877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06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8432597" y="4846320"/>
            <a:ext cx="2844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b="1" dirty="0">
                <a:solidFill>
                  <a:srgbClr val="0C0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Gestão sem indicadores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8432597" y="5321808"/>
            <a:ext cx="28446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4D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Lideranças sem dados sobre o clima do próprio time.</a:t>
            </a:r>
            <a:endParaRPr lang="en-US" sz="1000" dirty="0"/>
          </a:p>
        </p:txBody>
      </p:sp>
      <p:pic>
        <p:nvPicPr>
          <p:cNvPr id="28" name="Image 0" descr="/tmp/claude-0/-home-user-salescoach-site/0652e2a4-bf16-5738-8f3f-fcd4ec6a59db/scratchpad/clima/art/marca-tinta.png">    </p:cNvPr>
          <p:cNvPicPr>
            <a:picLocks noChangeAspect="1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>
            <a:off x="658368" y="6291072"/>
            <a:ext cx="566928" cy="201168"/>
          </a:xfrm>
          <a:prstGeom prst="rect">
            <a:avLst/>
          </a:prstGeom>
        </p:spPr>
      </p:pic>
      <p:sp>
        <p:nvSpPr>
          <p:cNvPr id="29" name="Text 26"/>
          <p:cNvSpPr txBox="1"/>
          <p:nvPr/>
        </p:nvSpPr>
        <p:spPr>
          <a:xfrm>
            <a:off x="1371600" y="6272784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60" kern="0" dirty="0">
                <a:solidFill>
                  <a:srgbClr val="8B8F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PROPOSTA COMERCIAL  ·  PESQUISA DE CLIMA E FEEDBACK</a:t>
            </a:r>
            <a:endParaRPr lang="en-US" sz="750" dirty="0"/>
          </a:p>
        </p:txBody>
      </p:sp>
      <p:sp>
        <p:nvSpPr>
          <p:cNvPr id="30" name="Text 27"/>
          <p:cNvSpPr txBox="1"/>
          <p:nvPr/>
        </p:nvSpPr>
        <p:spPr>
          <a:xfrm>
            <a:off x="10618927" y="627278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8B8FA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65836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0F877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COMO FUNCIONA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50976"/>
            <a:ext cx="5486400" cy="6162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100" dirty="0">
                <a:solidFill>
                  <a:srgbClr val="0C0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 briefing </a:t>
            </a:r>
            <a:pPr indent="0" marL="0">
              <a:lnSpc>
                <a:spcPct val="108000"/>
              </a:lnSpc>
              <a:buNone/>
            </a:pPr>
            <a:r>
              <a:rPr lang="en-US" sz="3100" b="1" dirty="0">
                <a:solidFill>
                  <a:srgbClr val="0C0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à ação.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760720" y="1060704"/>
            <a:ext cx="577260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100" dirty="0">
                <a:solidFill>
                  <a:srgbClr val="4A4D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projeto base é briefing com o RH, aplicação da avaliação e relatório online. As demais etapas são opcionais — você escolhe no menu.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58368" y="2487168"/>
            <a:ext cx="1926275" cy="2834640"/>
          </a:xfrm>
          <a:prstGeom prst="roundRect">
            <a:avLst>
              <a:gd name="adj" fmla="val 6646"/>
            </a:avLst>
          </a:prstGeom>
          <a:solidFill>
            <a:srgbClr val="FFFFFF"/>
          </a:solidFill>
          <a:ln w="13970">
            <a:solidFill>
              <a:srgbClr val="6CD8CF"/>
            </a:solidFill>
            <a:prstDash val="solid"/>
          </a:ln>
          <a:effectLst>
            <a:outerShdw sx="100000" sy="100000" kx="0" ky="0" algn="bl" rotWithShape="0" blurRad="152400" dist="50800" dir="5400000">
              <a:srgbClr val="0C0A2E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77824" y="270662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12057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615379" y="2688336"/>
            <a:ext cx="749808" cy="237744"/>
          </a:xfrm>
          <a:prstGeom prst="roundRect">
            <a:avLst>
              <a:gd name="adj" fmla="val 50000"/>
            </a:avLst>
          </a:prstGeom>
          <a:solidFill>
            <a:srgbClr val="E8F9F6"/>
          </a:solidFill>
          <a:ln w="9525">
            <a:solidFill>
              <a:srgbClr val="6CD8C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615379" y="2688336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80" kern="0" dirty="0">
                <a:solidFill>
                  <a:srgbClr val="0F87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BASE</a:t>
            </a:r>
            <a:endParaRPr lang="en-US" sz="650" dirty="0"/>
          </a:p>
        </p:txBody>
      </p:sp>
      <p:sp>
        <p:nvSpPr>
          <p:cNvPr id="9" name="Text 7"/>
          <p:cNvSpPr txBox="1"/>
          <p:nvPr/>
        </p:nvSpPr>
        <p:spPr>
          <a:xfrm>
            <a:off x="877824" y="3090672"/>
            <a:ext cx="148736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0C0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Briefing com o RH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77824" y="3749040"/>
            <a:ext cx="148736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A4D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Reunião de alinhamento, validação das perguntas e cronograma de aplicação.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895539" y="2487168"/>
            <a:ext cx="1926275" cy="2834640"/>
          </a:xfrm>
          <a:prstGeom prst="roundRect">
            <a:avLst>
              <a:gd name="adj" fmla="val 6646"/>
            </a:avLst>
          </a:prstGeom>
          <a:solidFill>
            <a:srgbClr val="F4F6FB"/>
          </a:solidFill>
          <a:ln w="9525">
            <a:solidFill>
              <a:srgbClr val="E4E7F0"/>
            </a:solidFill>
            <a:prstDash val="solid"/>
          </a:ln>
          <a:effectLst>
            <a:outerShdw sx="100000" sy="100000" kx="0" ky="0" algn="bl" rotWithShape="0" blurRad="152400" dist="50800" dir="5400000">
              <a:srgbClr val="0C0A2E">
                <a:alpha val="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114995" y="270662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8B8FA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852550" y="2688336"/>
            <a:ext cx="749808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4E7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852550" y="2688336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80" kern="0" dirty="0">
                <a:solidFill>
                  <a:srgbClr val="8B8F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OPCIONAL</a:t>
            </a:r>
            <a:endParaRPr lang="en-US" sz="650" dirty="0"/>
          </a:p>
        </p:txBody>
      </p:sp>
      <p:sp>
        <p:nvSpPr>
          <p:cNvPr id="15" name="Text 13"/>
          <p:cNvSpPr txBox="1"/>
          <p:nvPr/>
        </p:nvSpPr>
        <p:spPr>
          <a:xfrm>
            <a:off x="3114995" y="3090672"/>
            <a:ext cx="148736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0C0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Sensibilização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114995" y="3749040"/>
            <a:ext cx="148736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A4D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Kick-off com os avaliadores para envolvê-los e apresentar como a pesquisa funciona.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132710" y="2487168"/>
            <a:ext cx="1926275" cy="2834640"/>
          </a:xfrm>
          <a:prstGeom prst="roundRect">
            <a:avLst>
              <a:gd name="adj" fmla="val 6646"/>
            </a:avLst>
          </a:prstGeom>
          <a:solidFill>
            <a:srgbClr val="FFFFFF"/>
          </a:solidFill>
          <a:ln w="13970">
            <a:solidFill>
              <a:srgbClr val="6CD8CF"/>
            </a:solidFill>
            <a:prstDash val="solid"/>
          </a:ln>
          <a:effectLst>
            <a:outerShdw sx="100000" sy="100000" kx="0" ky="0" algn="bl" rotWithShape="0" blurRad="152400" dist="50800" dir="5400000">
              <a:srgbClr val="0C0A2E">
                <a:alpha val="10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5352166" y="270662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12057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089721" y="2688336"/>
            <a:ext cx="749808" cy="237744"/>
          </a:xfrm>
          <a:prstGeom prst="roundRect">
            <a:avLst>
              <a:gd name="adj" fmla="val 50000"/>
            </a:avLst>
          </a:prstGeom>
          <a:solidFill>
            <a:srgbClr val="E8F9F6"/>
          </a:solidFill>
          <a:ln w="9525">
            <a:solidFill>
              <a:srgbClr val="6CD8C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089721" y="2688336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80" kern="0" dirty="0">
                <a:solidFill>
                  <a:srgbClr val="0F87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BASE</a:t>
            </a:r>
            <a:endParaRPr lang="en-US" sz="650" dirty="0"/>
          </a:p>
        </p:txBody>
      </p:sp>
      <p:sp>
        <p:nvSpPr>
          <p:cNvPr id="21" name="Text 19"/>
          <p:cNvSpPr txBox="1"/>
          <p:nvPr/>
        </p:nvSpPr>
        <p:spPr>
          <a:xfrm>
            <a:off x="5352166" y="3090672"/>
            <a:ext cx="148736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0C0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Aplicação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352166" y="3749040"/>
            <a:ext cx="148736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A4D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Pesquisa online e anônima, acessada por link, em qualquer dispositivo.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369881" y="2487168"/>
            <a:ext cx="1926275" cy="2834640"/>
          </a:xfrm>
          <a:prstGeom prst="roundRect">
            <a:avLst>
              <a:gd name="adj" fmla="val 6646"/>
            </a:avLst>
          </a:prstGeom>
          <a:solidFill>
            <a:srgbClr val="FFFFFF"/>
          </a:solidFill>
          <a:ln w="13970">
            <a:solidFill>
              <a:srgbClr val="6CD8CF"/>
            </a:solidFill>
            <a:prstDash val="solid"/>
          </a:ln>
          <a:effectLst>
            <a:outerShdw sx="100000" sy="100000" kx="0" ky="0" algn="bl" rotWithShape="0" blurRad="152400" dist="50800" dir="5400000">
              <a:srgbClr val="0C0A2E">
                <a:alpha val="10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7589337" y="270662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12057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326892" y="2688336"/>
            <a:ext cx="749808" cy="237744"/>
          </a:xfrm>
          <a:prstGeom prst="roundRect">
            <a:avLst>
              <a:gd name="adj" fmla="val 50000"/>
            </a:avLst>
          </a:prstGeom>
          <a:solidFill>
            <a:srgbClr val="E8F9F6"/>
          </a:solidFill>
          <a:ln w="9525">
            <a:solidFill>
              <a:srgbClr val="6CD8C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326892" y="2688336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80" kern="0" dirty="0">
                <a:solidFill>
                  <a:srgbClr val="0F87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BASE</a:t>
            </a:r>
            <a:endParaRPr lang="en-US" sz="650" dirty="0"/>
          </a:p>
        </p:txBody>
      </p:sp>
      <p:sp>
        <p:nvSpPr>
          <p:cNvPr id="27" name="Text 25"/>
          <p:cNvSpPr txBox="1"/>
          <p:nvPr/>
        </p:nvSpPr>
        <p:spPr>
          <a:xfrm>
            <a:off x="7589337" y="3090672"/>
            <a:ext cx="148736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0C0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Resultados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589337" y="3749040"/>
            <a:ext cx="148736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A4D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Relatório online com panorama geral, score de clima, eNPS e cada pergunta.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607052" y="2487168"/>
            <a:ext cx="1926275" cy="2834640"/>
          </a:xfrm>
          <a:prstGeom prst="roundRect">
            <a:avLst>
              <a:gd name="adj" fmla="val 6646"/>
            </a:avLst>
          </a:prstGeom>
          <a:solidFill>
            <a:srgbClr val="F4F6FB"/>
          </a:solidFill>
          <a:ln w="9525">
            <a:solidFill>
              <a:srgbClr val="E4E7F0"/>
            </a:solidFill>
            <a:prstDash val="solid"/>
          </a:ln>
          <a:effectLst>
            <a:outerShdw sx="100000" sy="100000" kx="0" ky="0" algn="bl" rotWithShape="0" blurRad="152400" dist="50800" dir="5400000">
              <a:srgbClr val="0C0A2E">
                <a:alpha val="5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9826508" y="270662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8B8FA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05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10564063" y="2688336"/>
            <a:ext cx="749808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4E7F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564063" y="2688336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80" kern="0" dirty="0">
                <a:solidFill>
                  <a:srgbClr val="8B8F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OPCIONAL</a:t>
            </a:r>
            <a:endParaRPr lang="en-US" sz="650" dirty="0"/>
          </a:p>
        </p:txBody>
      </p:sp>
      <p:sp>
        <p:nvSpPr>
          <p:cNvPr id="33" name="Text 31"/>
          <p:cNvSpPr txBox="1"/>
          <p:nvPr/>
        </p:nvSpPr>
        <p:spPr>
          <a:xfrm>
            <a:off x="9826508" y="3090672"/>
            <a:ext cx="148736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0C0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Devolutiva e Ação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9826508" y="3749040"/>
            <a:ext cx="148736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A4D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Relatório de RH, líder e/ou diretoria com plano de ação e reuniões de resultado.</a:t>
            </a:r>
            <a:endParaRPr lang="en-US" sz="950" dirty="0"/>
          </a:p>
        </p:txBody>
      </p:sp>
      <p:pic>
        <p:nvPicPr>
          <p:cNvPr id="35" name="Image 0" descr="/tmp/claude-0/-home-user-salescoach-site/0652e2a4-bf16-5738-8f3f-fcd4ec6a59db/scratchpad/clima/art/marca-tinta.png">    </p:cNvPr>
          <p:cNvPicPr>
            <a:picLocks noChangeAspect="1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>
            <a:off x="658368" y="6291072"/>
            <a:ext cx="566928" cy="201168"/>
          </a:xfrm>
          <a:prstGeom prst="rect">
            <a:avLst/>
          </a:prstGeom>
        </p:spPr>
      </p:pic>
      <p:sp>
        <p:nvSpPr>
          <p:cNvPr id="36" name="Text 33"/>
          <p:cNvSpPr txBox="1"/>
          <p:nvPr/>
        </p:nvSpPr>
        <p:spPr>
          <a:xfrm>
            <a:off x="1371600" y="6272784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60" kern="0" dirty="0">
                <a:solidFill>
                  <a:srgbClr val="8B8F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PROPOSTA COMERCIAL  ·  PESQUISA DE CLIMA E FEEDBACK</a:t>
            </a:r>
            <a:endParaRPr lang="en-US" sz="750" dirty="0"/>
          </a:p>
        </p:txBody>
      </p:sp>
      <p:sp>
        <p:nvSpPr>
          <p:cNvPr id="37" name="Text 34"/>
          <p:cNvSpPr txBox="1"/>
          <p:nvPr/>
        </p:nvSpPr>
        <p:spPr>
          <a:xfrm>
            <a:off x="10618927" y="627278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8B8FA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65836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6CD8C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PLATAFORMA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50976"/>
            <a:ext cx="6766560" cy="6162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100" dirty="0">
                <a:solidFill>
                  <a:srgbClr val="E6EA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Veja na prática </a:t>
            </a:r>
            <a:endParaRPr lang="en-US" sz="3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antes de contratar.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228600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150" dirty="0">
                <a:solidFill>
                  <a:srgbClr val="AEB8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Acesse a experiência do colaborador e o relatório online com dados demonstrativos — os mesmos ambientes que a sua empresa vai usar.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58368" y="3017520"/>
            <a:ext cx="5208880" cy="2505456"/>
          </a:xfrm>
          <a:prstGeom prst="roundRect">
            <a:avLst>
              <a:gd name="adj" fmla="val 5839"/>
            </a:avLst>
          </a:prstGeom>
          <a:solidFill>
            <a:srgbClr val="0C0740"/>
          </a:solidFill>
          <a:ln w="11430">
            <a:solidFill>
              <a:srgbClr val="2A2170"/>
            </a:solidFill>
            <a:prstDash val="solid"/>
          </a:ln>
        </p:spPr>
      </p:sp>
      <p:pic>
        <p:nvPicPr>
          <p:cNvPr id="6" name="Image 0" descr="/tmp/claude-0/-home-user-salescoach-site/0652e2a4-bf16-5738-8f3f-fcd4ec6a59db/scratchpad/clima/media/image4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96112" y="3255264"/>
            <a:ext cx="2048256" cy="12801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3108960" y="3273552"/>
            <a:ext cx="25205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b="1" spc="130" kern="0" dirty="0">
                <a:solidFill>
                  <a:srgbClr val="6CD8C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PESQUISA · VISÃO DO COLABORADOR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3108960" y="3767328"/>
            <a:ext cx="252054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AEB8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Cerca de 7 minutos, anônima, em qualquer dispositivo.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896112" y="4718304"/>
            <a:ext cx="4733392" cy="548640"/>
          </a:xfrm>
          <a:prstGeom prst="roundRect">
            <a:avLst>
              <a:gd name="adj" fmla="val 20000"/>
            </a:avLst>
          </a:prstGeom>
          <a:solidFill>
            <a:srgbClr val="15104F"/>
          </a:solidFill>
          <a:ln w="9525">
            <a:solidFill>
              <a:srgbClr val="3A2BA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078992" y="4718304"/>
            <a:ext cx="436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atlas.grougp.com.br/survey/grou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324448" y="3017520"/>
            <a:ext cx="5208880" cy="2505456"/>
          </a:xfrm>
          <a:prstGeom prst="roundRect">
            <a:avLst>
              <a:gd name="adj" fmla="val 5839"/>
            </a:avLst>
          </a:prstGeom>
          <a:solidFill>
            <a:srgbClr val="0C0740"/>
          </a:solidFill>
          <a:ln w="11430">
            <a:solidFill>
              <a:srgbClr val="2A2170"/>
            </a:solidFill>
            <a:prstDash val="solid"/>
          </a:ln>
        </p:spPr>
      </p:sp>
      <p:pic>
        <p:nvPicPr>
          <p:cNvPr id="12" name="Image 1" descr="/tmp/claude-0/-home-user-salescoach-site/0652e2a4-bf16-5738-8f3f-fcd4ec6a59db/scratchpad/clima/media/image6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562192" y="3255264"/>
            <a:ext cx="2048256" cy="12801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8775040" y="3273552"/>
            <a:ext cx="25205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b="1" spc="130" kern="0" dirty="0">
                <a:solidFill>
                  <a:srgbClr val="6CD8C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RELATÓRIO ONLINE · VISÃO DO RH</a:t>
            </a:r>
            <a:endParaRPr lang="en-US" sz="800" dirty="0"/>
          </a:p>
        </p:txBody>
      </p:sp>
      <p:sp>
        <p:nvSpPr>
          <p:cNvPr id="14" name="Text 10"/>
          <p:cNvSpPr txBox="1"/>
          <p:nvPr/>
        </p:nvSpPr>
        <p:spPr>
          <a:xfrm>
            <a:off x="8775040" y="3767328"/>
            <a:ext cx="252054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AEB8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Panorama geral, eNPS, resultado por pergunta e comentários.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6562192" y="4718304"/>
            <a:ext cx="4733392" cy="548640"/>
          </a:xfrm>
          <a:prstGeom prst="roundRect">
            <a:avLst>
              <a:gd name="adj" fmla="val 20000"/>
            </a:avLst>
          </a:prstGeom>
          <a:solidFill>
            <a:srgbClr val="15104F"/>
          </a:solidFill>
          <a:ln w="9525">
            <a:solidFill>
              <a:srgbClr val="3A2BA8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745072" y="4718304"/>
            <a:ext cx="436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atlas.grougp.com.br/relatorio/grou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4541368" y="5742432"/>
            <a:ext cx="3108960" cy="365760"/>
          </a:xfrm>
          <a:prstGeom prst="roundRect">
            <a:avLst>
              <a:gd name="adj" fmla="val 50000"/>
            </a:avLst>
          </a:prstGeom>
          <a:solidFill>
            <a:srgbClr val="0E0A48"/>
          </a:solidFill>
          <a:ln w="9525">
            <a:solidFill>
              <a:srgbClr val="2A2170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4541368" y="57424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20" kern="0" dirty="0">
                <a:solidFill>
                  <a:srgbClr val="6CD8C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SENHA DE ACESSO:  GROU-2026</a:t>
            </a:r>
            <a:endParaRPr lang="en-US" sz="950" dirty="0"/>
          </a:p>
        </p:txBody>
      </p:sp>
      <p:pic>
        <p:nvPicPr>
          <p:cNvPr id="19" name="Image 2" descr="/tmp/claude-0/-home-user-salescoach-site/0652e2a4-bf16-5738-8f3f-fcd4ec6a59db/scratchpad/clima/art/marca-branca.png">    </p:cNvPr>
          <p:cNvPicPr>
            <a:picLocks noChangeAspect="1"/>
          </p:cNvPicPr>
          <p:nvPr/>
        </p:nvPicPr>
        <p:blipFill>
          <a:blip r:embed="rId4">
            <a:alphaModFix amt="55000"/>
          </a:blip>
          <a:stretch>
            <a:fillRect/>
          </a:stretch>
        </p:blipFill>
        <p:spPr>
          <a:xfrm>
            <a:off x="658368" y="6291072"/>
            <a:ext cx="566928" cy="201168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371600" y="6272784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60" kern="0" dirty="0">
                <a:solidFill>
                  <a:srgbClr val="FFFFFF">
                    <a:alpha val="6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PROPOSTA COMERCIAL  ·  PESQUISA DE CLIMA E FEEDBACK</a:t>
            </a:r>
            <a:endParaRPr lang="en-US" sz="750" dirty="0"/>
          </a:p>
        </p:txBody>
      </p:sp>
      <p:sp>
        <p:nvSpPr>
          <p:cNvPr id="21" name="Text 16"/>
          <p:cNvSpPr txBox="1"/>
          <p:nvPr/>
        </p:nvSpPr>
        <p:spPr>
          <a:xfrm>
            <a:off x="10618927" y="627278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>
                    <a:alpha val="6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65836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0F877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ENTREGA PRINCIPAL · INCLUÍDA NA APLICAÇÃO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50976"/>
            <a:ext cx="5486400" cy="6162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100" dirty="0">
                <a:solidFill>
                  <a:srgbClr val="0C0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Relatório de </a:t>
            </a:r>
            <a:pPr indent="0" marL="0">
              <a:lnSpc>
                <a:spcPct val="108000"/>
              </a:lnSpc>
              <a:buNone/>
            </a:pPr>
            <a:r>
              <a:rPr lang="en-US" sz="3100" b="1" dirty="0">
                <a:solidFill>
                  <a:srgbClr val="0C0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resultados.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993392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150" dirty="0">
                <a:solidFill>
                  <a:srgbClr val="4A4D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Relatório online com o panorama geral do clima e o resultado de cada pergunta, pronto em 10 dias após o encerramento da pesquisa.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58368" y="3090672"/>
            <a:ext cx="237744" cy="237744"/>
          </a:xfrm>
          <a:prstGeom prst="ellipse">
            <a:avLst/>
          </a:prstGeom>
          <a:solidFill>
            <a:srgbClr val="E8F9F6"/>
          </a:solidFill>
          <a:ln w="9525">
            <a:solidFill>
              <a:srgbClr val="6CD8C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30906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87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42416" y="3054096"/>
            <a:ext cx="4096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50" b="1" dirty="0">
                <a:solidFill>
                  <a:srgbClr val="0C0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Panorama geral
</a:t>
            </a:r>
            <a:endParaRPr lang="en-US" sz="10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4A4D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score de clima, média geral e eNPS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3657600"/>
            <a:ext cx="237744" cy="237744"/>
          </a:xfrm>
          <a:prstGeom prst="ellipse">
            <a:avLst/>
          </a:prstGeom>
          <a:solidFill>
            <a:srgbClr val="E8F9F6"/>
          </a:solidFill>
          <a:ln w="9525">
            <a:solidFill>
              <a:srgbClr val="6CD8C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" y="36576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87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042416" y="3621024"/>
            <a:ext cx="4096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50" b="1" dirty="0">
                <a:solidFill>
                  <a:srgbClr val="0C0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que sustenta o clima
</a:t>
            </a:r>
            <a:endParaRPr lang="en-US" sz="10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4A4D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 perguntas mais bem avaliadas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58368" y="4224528"/>
            <a:ext cx="237744" cy="237744"/>
          </a:xfrm>
          <a:prstGeom prst="ellipse">
            <a:avLst/>
          </a:prstGeom>
          <a:solidFill>
            <a:srgbClr val="E8F9F6"/>
          </a:solidFill>
          <a:ln w="9525">
            <a:solidFill>
              <a:srgbClr val="6CD8C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8368" y="42245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87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42416" y="4187952"/>
            <a:ext cx="4096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50" b="1" dirty="0">
                <a:solidFill>
                  <a:srgbClr val="0C0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Onde agir primeiro
</a:t>
            </a:r>
            <a:endParaRPr lang="en-US" sz="10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4A4D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 perguntas com as menores médias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58368" y="4791456"/>
            <a:ext cx="237744" cy="237744"/>
          </a:xfrm>
          <a:prstGeom prst="ellipse">
            <a:avLst/>
          </a:prstGeom>
          <a:solidFill>
            <a:srgbClr val="E8F9F6"/>
          </a:solidFill>
          <a:ln w="9525">
            <a:solidFill>
              <a:srgbClr val="6CD8C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8368" y="479145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87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042416" y="4754880"/>
            <a:ext cx="4096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50" b="1" dirty="0">
                <a:solidFill>
                  <a:srgbClr val="0C0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Resultado de cada pergunta
</a:t>
            </a:r>
            <a:endParaRPr lang="en-US" sz="10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4A4D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distribuição das respostas de 1 a 5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58368" y="5358384"/>
            <a:ext cx="237744" cy="237744"/>
          </a:xfrm>
          <a:prstGeom prst="ellipse">
            <a:avLst/>
          </a:prstGeom>
          <a:solidFill>
            <a:srgbClr val="E8F9F6"/>
          </a:solidFill>
          <a:ln w="9525">
            <a:solidFill>
              <a:srgbClr val="6CD8C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8368" y="535838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87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042416" y="5321808"/>
            <a:ext cx="4096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50" b="1" dirty="0">
                <a:solidFill>
                  <a:srgbClr val="0C0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Comentários
</a:t>
            </a:r>
            <a:endParaRPr lang="en-US" sz="10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4A4D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 categoria e comentários abertos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815584" y="950976"/>
            <a:ext cx="5717743" cy="4828032"/>
          </a:xfrm>
          <a:prstGeom prst="roundRect">
            <a:avLst>
              <a:gd name="adj" fmla="val 3409"/>
            </a:avLst>
          </a:prstGeom>
          <a:solidFill>
            <a:srgbClr val="FFFFFF"/>
          </a:solidFill>
          <a:ln w="9525">
            <a:solidFill>
              <a:srgbClr val="E4E7F0"/>
            </a:solidFill>
            <a:prstDash val="solid"/>
          </a:ln>
          <a:effectLst>
            <a:outerShdw sx="100000" sy="100000" kx="0" ky="0" algn="bl" rotWithShape="0" blurRad="228600" dist="76200" dir="5400000">
              <a:srgbClr val="0C0A2E">
                <a:alpha val="12000"/>
              </a:srgbClr>
            </a:outerShdw>
          </a:effectLst>
        </p:spPr>
      </p:sp>
      <p:pic>
        <p:nvPicPr>
          <p:cNvPr id="21" name="Image 0" descr="/tmp/claude-0/-home-user-salescoach-site/0652e2a4-bf16-5738-8f3f-fcd4ec6a59db/scratchpad/clima/media/image6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016752" y="1152144"/>
            <a:ext cx="5315407" cy="2487168"/>
          </a:xfrm>
          <a:prstGeom prst="rect">
            <a:avLst/>
          </a:prstGeom>
        </p:spPr>
      </p:pic>
      <p:pic>
        <p:nvPicPr>
          <p:cNvPr id="22" name="Image 1" descr="/tmp/claude-0/-home-user-salescoach-site/0652e2a4-bf16-5738-8f3f-fcd4ec6a59db/scratchpad/clima/media/image5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016752" y="3694176"/>
            <a:ext cx="5315407" cy="1883664"/>
          </a:xfrm>
          <a:prstGeom prst="rect">
            <a:avLst/>
          </a:prstGeom>
        </p:spPr>
      </p:pic>
      <p:pic>
        <p:nvPicPr>
          <p:cNvPr id="23" name="Image 2" descr="/tmp/claude-0/-home-user-salescoach-site/0652e2a4-bf16-5738-8f3f-fcd4ec6a59db/scratchpad/clima/art/marca-tinta.png">    </p:cNvPr>
          <p:cNvPicPr>
            <a:picLocks noChangeAspect="1"/>
          </p:cNvPicPr>
          <p:nvPr/>
        </p:nvPicPr>
        <p:blipFill>
          <a:blip r:embed="rId4">
            <a:alphaModFix amt="45000"/>
          </a:blip>
          <a:stretch>
            <a:fillRect/>
          </a:stretch>
        </p:blipFill>
        <p:spPr>
          <a:xfrm>
            <a:off x="658368" y="6291072"/>
            <a:ext cx="566928" cy="201168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1371600" y="6272784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60" kern="0" dirty="0">
                <a:solidFill>
                  <a:srgbClr val="8B8F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PROPOSTA COMERCIAL  ·  PESQUISA DE CLIMA E FEEDBACK</a:t>
            </a:r>
            <a:endParaRPr lang="en-US" sz="750" dirty="0"/>
          </a:p>
        </p:txBody>
      </p:sp>
      <p:sp>
        <p:nvSpPr>
          <p:cNvPr id="25" name="Text 20"/>
          <p:cNvSpPr txBox="1"/>
          <p:nvPr/>
        </p:nvSpPr>
        <p:spPr>
          <a:xfrm>
            <a:off x="10618927" y="627278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8B8FA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65836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0F877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RELATÓRIO DE RESULTADOS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50976"/>
            <a:ext cx="6400800" cy="6162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100" dirty="0">
                <a:solidFill>
                  <a:srgbClr val="0C0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Cada pergunta, </a:t>
            </a:r>
            <a:pPr indent="0" marL="0">
              <a:lnSpc>
                <a:spcPct val="108000"/>
              </a:lnSpc>
              <a:buNone/>
            </a:pPr>
            <a:r>
              <a:rPr lang="en-US" sz="3100" b="1" dirty="0">
                <a:solidFill>
                  <a:srgbClr val="0C0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 detalhe.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6675120" y="1060704"/>
            <a:ext cx="485820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050" dirty="0">
                <a:solidFill>
                  <a:srgbClr val="4A4D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Ranking das médias, distribuição das respostas, recortes por categoria e comentários abertos — tudo no mesmo relatório.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58368" y="2286000"/>
            <a:ext cx="5236312" cy="179222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E4E7F0"/>
            </a:solidFill>
            <a:prstDash val="solid"/>
          </a:ln>
          <a:effectLst>
            <a:outerShdw sx="100000" sy="100000" kx="0" ky="0" algn="bl" rotWithShape="0" blurRad="152400" dist="50800" dir="5400000">
              <a:srgbClr val="0C0A2E">
                <a:alpha val="9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96112" y="2450592"/>
            <a:ext cx="4760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0F877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MÉDIA POR PERGUNTA</a:t>
            </a:r>
            <a:endParaRPr lang="en-US" sz="750" dirty="0"/>
          </a:p>
        </p:txBody>
      </p:sp>
      <p:pic>
        <p:nvPicPr>
          <p:cNvPr id="7" name="Image 0" descr="/tmp/claude-0/-home-user-salescoach-site/0652e2a4-bf16-5738-8f3f-fcd4ec6a59db/scratchpad/clima/media/image7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96112" y="2706624"/>
            <a:ext cx="4760824" cy="113385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297016" y="2286000"/>
            <a:ext cx="5236312" cy="179222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E4E7F0"/>
            </a:solidFill>
            <a:prstDash val="solid"/>
          </a:ln>
          <a:effectLst>
            <a:outerShdw sx="100000" sy="100000" kx="0" ky="0" algn="bl" rotWithShape="0" blurRad="152400" dist="50800" dir="5400000">
              <a:srgbClr val="0C0A2E">
                <a:alpha val="9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534760" y="2450592"/>
            <a:ext cx="4760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0F877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DISTRIBUIÇÃO DAS RESPOSTAS</a:t>
            </a:r>
            <a:endParaRPr lang="en-US" sz="750" dirty="0"/>
          </a:p>
        </p:txBody>
      </p:sp>
      <p:pic>
        <p:nvPicPr>
          <p:cNvPr id="10" name="Image 1" descr="/tmp/claude-0/-home-user-salescoach-site/0652e2a4-bf16-5738-8f3f-fcd4ec6a59db/scratchpad/clima/media/image8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534760" y="2706624"/>
            <a:ext cx="4760824" cy="113385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58368" y="4480560"/>
            <a:ext cx="5236312" cy="179222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E4E7F0"/>
            </a:solidFill>
            <a:prstDash val="solid"/>
          </a:ln>
          <a:effectLst>
            <a:outerShdw sx="100000" sy="100000" kx="0" ky="0" algn="bl" rotWithShape="0" blurRad="152400" dist="50800" dir="5400000">
              <a:srgbClr val="0C0A2E">
                <a:alpha val="9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896112" y="4645152"/>
            <a:ext cx="4760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0F877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RECORTE POR CATEGORIA</a:t>
            </a:r>
            <a:endParaRPr lang="en-US" sz="750" dirty="0"/>
          </a:p>
        </p:txBody>
      </p:sp>
      <p:pic>
        <p:nvPicPr>
          <p:cNvPr id="13" name="Image 2" descr="/tmp/claude-0/-home-user-salescoach-site/0652e2a4-bf16-5738-8f3f-fcd4ec6a59db/scratchpad/clima/media/image9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96112" y="4901184"/>
            <a:ext cx="4760824" cy="1133856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6297016" y="4480560"/>
            <a:ext cx="5236312" cy="179222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E4E7F0"/>
            </a:solidFill>
            <a:prstDash val="solid"/>
          </a:ln>
          <a:effectLst>
            <a:outerShdw sx="100000" sy="100000" kx="0" ky="0" algn="bl" rotWithShape="0" blurRad="152400" dist="50800" dir="5400000">
              <a:srgbClr val="0C0A2E">
                <a:alpha val="9000"/>
              </a:srgbClr>
            </a:outerShdw>
          </a:effectLst>
        </p:spPr>
      </p:sp>
      <p:sp>
        <p:nvSpPr>
          <p:cNvPr id="15" name="Text 10"/>
          <p:cNvSpPr txBox="1"/>
          <p:nvPr/>
        </p:nvSpPr>
        <p:spPr>
          <a:xfrm>
            <a:off x="6534760" y="4645152"/>
            <a:ext cx="4760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0F877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COMENTÁRIOS ABERTOS</a:t>
            </a:r>
            <a:endParaRPr lang="en-US" sz="750" dirty="0"/>
          </a:p>
        </p:txBody>
      </p:sp>
      <p:pic>
        <p:nvPicPr>
          <p:cNvPr id="16" name="Image 3" descr="/tmp/claude-0/-home-user-salescoach-site/0652e2a4-bf16-5738-8f3f-fcd4ec6a59db/scratchpad/clima/media/image10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534760" y="4901184"/>
            <a:ext cx="4760824" cy="1133856"/>
          </a:xfrm>
          <a:prstGeom prst="rect">
            <a:avLst/>
          </a:prstGeom>
        </p:spPr>
      </p:pic>
      <p:pic>
        <p:nvPicPr>
          <p:cNvPr id="17" name="Image 4" descr="/tmp/claude-0/-home-user-salescoach-site/0652e2a4-bf16-5738-8f3f-fcd4ec6a59db/scratchpad/clima/art/marca-tinta.png">    </p:cNvPr>
          <p:cNvPicPr>
            <a:picLocks noChangeAspect="1"/>
          </p:cNvPicPr>
          <p:nvPr/>
        </p:nvPicPr>
        <p:blipFill>
          <a:blip r:embed="rId6">
            <a:alphaModFix amt="45000"/>
          </a:blip>
          <a:stretch>
            <a:fillRect/>
          </a:stretch>
        </p:blipFill>
        <p:spPr>
          <a:xfrm>
            <a:off x="658368" y="6291072"/>
            <a:ext cx="566928" cy="201168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371600" y="6272784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60" kern="0" dirty="0">
                <a:solidFill>
                  <a:srgbClr val="8B8F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PROPOSTA COMERCIAL  ·  PESQUISA DE CLIMA E FEEDBACK</a:t>
            </a:r>
            <a:endParaRPr lang="en-US" sz="750" dirty="0"/>
          </a:p>
        </p:txBody>
      </p:sp>
      <p:sp>
        <p:nvSpPr>
          <p:cNvPr id="19" name="Text 12"/>
          <p:cNvSpPr txBox="1"/>
          <p:nvPr/>
        </p:nvSpPr>
        <p:spPr>
          <a:xfrm>
            <a:off x="10618927" y="627278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8B8FA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65836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0F877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ENTREGA COMPLEMENTAR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50976"/>
            <a:ext cx="5852160" cy="6162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100" dirty="0">
                <a:solidFill>
                  <a:srgbClr val="0C0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Relatório de RH </a:t>
            </a:r>
            <a:endParaRPr lang="en-US" sz="3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100" b="1" dirty="0">
                <a:solidFill>
                  <a:srgbClr val="0C0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 plano de ação.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2432304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150" dirty="0">
                <a:solidFill>
                  <a:srgbClr val="4A4D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Leitura executiva dos resultados feita pelos especialistas da Grou, com sugestão de plano de ação para diretoria e RH.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58368" y="3438144"/>
            <a:ext cx="237744" cy="237744"/>
          </a:xfrm>
          <a:prstGeom prst="ellipse">
            <a:avLst/>
          </a:prstGeom>
          <a:solidFill>
            <a:srgbClr val="E8F9F6"/>
          </a:solidFill>
          <a:ln w="9525">
            <a:solidFill>
              <a:srgbClr val="6CD8C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343814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87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42416" y="3401568"/>
            <a:ext cx="42793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50" b="1" dirty="0">
                <a:solidFill>
                  <a:srgbClr val="0C0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Leitura executiva
</a:t>
            </a:r>
            <a:endParaRPr lang="en-US" sz="10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4A4D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contexto, visão geral e médias por seção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4041648"/>
            <a:ext cx="237744" cy="237744"/>
          </a:xfrm>
          <a:prstGeom prst="ellipse">
            <a:avLst/>
          </a:prstGeom>
          <a:solidFill>
            <a:srgbClr val="E8F9F6"/>
          </a:solidFill>
          <a:ln w="9525">
            <a:solidFill>
              <a:srgbClr val="6CD8C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" y="40416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87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042416" y="4005072"/>
            <a:ext cx="42793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50" b="1" dirty="0">
                <a:solidFill>
                  <a:srgbClr val="0C0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Pontos fortes e críticos
</a:t>
            </a:r>
            <a:endParaRPr lang="en-US" sz="10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4A4D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onde preservar e onde intervir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58368" y="4645152"/>
            <a:ext cx="237744" cy="237744"/>
          </a:xfrm>
          <a:prstGeom prst="ellipse">
            <a:avLst/>
          </a:prstGeom>
          <a:solidFill>
            <a:srgbClr val="E8F9F6"/>
          </a:solidFill>
          <a:ln w="9525">
            <a:solidFill>
              <a:srgbClr val="6CD8C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8368" y="46451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87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42416" y="4608576"/>
            <a:ext cx="42793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50" b="1" dirty="0">
                <a:solidFill>
                  <a:srgbClr val="0C0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Plano de RH priorizado
</a:t>
            </a:r>
            <a:endParaRPr lang="en-US" sz="10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4A4D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frentes, ações, prazos e indicadores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58368" y="5248656"/>
            <a:ext cx="237744" cy="237744"/>
          </a:xfrm>
          <a:prstGeom prst="ellipse">
            <a:avLst/>
          </a:prstGeom>
          <a:solidFill>
            <a:srgbClr val="E8F9F6"/>
          </a:solidFill>
          <a:ln w="9525">
            <a:solidFill>
              <a:srgbClr val="6CD8C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8368" y="524865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87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042416" y="5212080"/>
            <a:ext cx="42793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50" b="1" dirty="0">
                <a:solidFill>
                  <a:srgbClr val="0C0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Plano de ação 90 dias
</a:t>
            </a:r>
            <a:endParaRPr lang="en-US" sz="10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4A4D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ondas de execução, governança e KPIs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58368" y="5888736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B8F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Incluído ao contratar a etapa Construção do Plano de Ação.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035040" y="950976"/>
            <a:ext cx="5498287" cy="4828032"/>
          </a:xfrm>
          <a:prstGeom prst="roundRect">
            <a:avLst>
              <a:gd name="adj" fmla="val 3409"/>
            </a:avLst>
          </a:prstGeom>
          <a:solidFill>
            <a:srgbClr val="07033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254000" dist="88900" dir="5400000">
              <a:srgbClr val="0C0A2E">
                <a:alpha val="2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437376" y="1335024"/>
            <a:ext cx="46936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6CD8C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RELATÓRIO DE RH · ESTRUTURA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6437376" y="1773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D8C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821424" y="1773936"/>
            <a:ext cx="430956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CC6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Contexto e metodologia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37376" y="2176272"/>
            <a:ext cx="4693615" cy="0"/>
          </a:xfrm>
          <a:prstGeom prst="line">
            <a:avLst/>
          </a:prstGeom>
          <a:noFill/>
          <a:ln w="9525">
            <a:solidFill>
              <a:srgbClr val="221A6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37376" y="22494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D8C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821424" y="2249424"/>
            <a:ext cx="430956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CC6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Visão geral dos resultados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37376" y="2651760"/>
            <a:ext cx="4693615" cy="0"/>
          </a:xfrm>
          <a:prstGeom prst="line">
            <a:avLst/>
          </a:prstGeom>
          <a:noFill/>
          <a:ln w="9525">
            <a:solidFill>
              <a:srgbClr val="221A6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37376" y="27249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D8C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6821424" y="2724912"/>
            <a:ext cx="430956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CC6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Médias por seção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37376" y="3127248"/>
            <a:ext cx="4693615" cy="0"/>
          </a:xfrm>
          <a:prstGeom prst="line">
            <a:avLst/>
          </a:prstGeom>
          <a:noFill/>
          <a:ln w="9525">
            <a:solidFill>
              <a:srgbClr val="221A6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37376" y="3200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D8C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6821424" y="3200400"/>
            <a:ext cx="430956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CC6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Pontos fortes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37376" y="3602736"/>
            <a:ext cx="4693615" cy="0"/>
          </a:xfrm>
          <a:prstGeom prst="line">
            <a:avLst/>
          </a:prstGeom>
          <a:noFill/>
          <a:ln w="9525">
            <a:solidFill>
              <a:srgbClr val="221A6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437376" y="36758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D8C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6821424" y="3675888"/>
            <a:ext cx="430956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CC6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Pontos críticos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37376" y="4078224"/>
            <a:ext cx="4693615" cy="0"/>
          </a:xfrm>
          <a:prstGeom prst="line">
            <a:avLst/>
          </a:prstGeom>
          <a:noFill/>
          <a:ln w="9525">
            <a:solidFill>
              <a:srgbClr val="221A6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437376" y="4151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D8C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6821424" y="4151376"/>
            <a:ext cx="430956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CC6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Leitura dos comentários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437376" y="4553712"/>
            <a:ext cx="4693615" cy="0"/>
          </a:xfrm>
          <a:prstGeom prst="line">
            <a:avLst/>
          </a:prstGeom>
          <a:noFill/>
          <a:ln w="9525">
            <a:solidFill>
              <a:srgbClr val="221A63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437376" y="46268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D8C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6821424" y="4626864"/>
            <a:ext cx="430956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Plano de RH priorizado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37376" y="5029200"/>
            <a:ext cx="4693615" cy="0"/>
          </a:xfrm>
          <a:prstGeom prst="line">
            <a:avLst/>
          </a:prstGeom>
          <a:noFill/>
          <a:ln w="9525">
            <a:solidFill>
              <a:srgbClr val="221A63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437376" y="51023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D8C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6821424" y="5102352"/>
            <a:ext cx="430956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Plano de ação 90 dias</a:t>
            </a:r>
            <a:endParaRPr lang="en-US" sz="1100" dirty="0"/>
          </a:p>
        </p:txBody>
      </p:sp>
      <p:pic>
        <p:nvPicPr>
          <p:cNvPr id="43" name="Image 0" descr="/tmp/claude-0/-home-user-salescoach-site/0652e2a4-bf16-5738-8f3f-fcd4ec6a59db/scratchpad/clima/art/marca-tinta.png">    </p:cNvPr>
          <p:cNvPicPr>
            <a:picLocks noChangeAspect="1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>
            <a:off x="658368" y="6291072"/>
            <a:ext cx="566928" cy="201168"/>
          </a:xfrm>
          <a:prstGeom prst="rect">
            <a:avLst/>
          </a:prstGeom>
        </p:spPr>
      </p:pic>
      <p:sp>
        <p:nvSpPr>
          <p:cNvPr id="44" name="Text 41"/>
          <p:cNvSpPr txBox="1"/>
          <p:nvPr/>
        </p:nvSpPr>
        <p:spPr>
          <a:xfrm>
            <a:off x="1371600" y="6272784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60" kern="0" dirty="0">
                <a:solidFill>
                  <a:srgbClr val="8B8F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PROPOSTA COMERCIAL  ·  PESQUISA DE CLIMA E FEEDBACK</a:t>
            </a:r>
            <a:endParaRPr lang="en-US" sz="750" dirty="0"/>
          </a:p>
        </p:txBody>
      </p:sp>
      <p:sp>
        <p:nvSpPr>
          <p:cNvPr id="45" name="Text 42"/>
          <p:cNvSpPr txBox="1"/>
          <p:nvPr/>
        </p:nvSpPr>
        <p:spPr>
          <a:xfrm>
            <a:off x="10618927" y="627278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8B8FA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60350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0F877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ETAPAS DO PROJETO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96112"/>
            <a:ext cx="5486400" cy="576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900" dirty="0">
                <a:solidFill>
                  <a:srgbClr val="0C0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Monte o </a:t>
            </a:r>
            <a:pPr indent="0" marL="0">
              <a:lnSpc>
                <a:spcPct val="108000"/>
              </a:lnSpc>
              <a:buNone/>
            </a:pPr>
            <a:r>
              <a:rPr lang="en-US" sz="2900" b="1" dirty="0">
                <a:solidFill>
                  <a:srgbClr val="0C0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seu projeto.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6217920" y="969264"/>
            <a:ext cx="531540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050" dirty="0">
                <a:solidFill>
                  <a:srgbClr val="4A4D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aplicação é a base. As demais etapas são opcionais e podem ser combinadas conforme a sua necessidade.</a:t>
            </a:r>
            <a:endParaRPr lang="en-US" sz="10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810512"/>
          <a:ext cx="10874959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4572000"/>
                <a:gridCol w="1234440"/>
                <a:gridCol w="1868119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spc="140" kern="0" dirty="0">
                          <a:solidFill>
                            <a:srgbClr val="8B8FA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ETAPA</a:t>
                      </a:r>
                      <a:endParaRPr lang="en-US" sz="7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4864" marR="54864" marT="0" marB="73152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spc="140" kern="0" dirty="0">
                          <a:solidFill>
                            <a:srgbClr val="8B8FA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O QUE ENTREGA</a:t>
                      </a:r>
                      <a:endParaRPr lang="en-US" sz="7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4864" marR="54864" marT="0" marB="73152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spc="140" kern="0" dirty="0">
                          <a:solidFill>
                            <a:srgbClr val="8B8FA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CARGA</a:t>
                      </a:r>
                      <a:endParaRPr lang="en-US" sz="7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4864" marR="54864" marT="0" marB="73152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spc="140" kern="0" dirty="0">
                          <a:solidFill>
                            <a:srgbClr val="8B8FA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INVESTIMENTO</a:t>
                      </a:r>
                      <a:endParaRPr lang="en-US" sz="7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4864" marR="54864" marT="0" marB="73152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spc="100" kern="0" dirty="0">
                          <a:solidFill>
                            <a:srgbClr val="0F8778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BASE
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C0A2E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Aplicação do Instrumento de Avaliação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54864" marR="54864" marT="105156" marB="10515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850" dirty="0">
                          <a:solidFill>
                            <a:srgbClr val="4A4D6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Configuração, briefing, envio do link, acompanhamento da adesão e relatório online de resultados · até 100 avaliadores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54864" marR="54864" marT="105156" marB="10515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4A4D6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—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54864" marR="54864" marT="105156" marB="10515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2057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R$ 5.800,00</a:t>
                      </a:r>
                      <a:endParaRPr lang="en-US" sz="10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4864" marR="54864" marT="105156" marB="10515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spc="100" kern="0" dirty="0">
                          <a:solidFill>
                            <a:srgbClr val="8B8FA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OPCIONAL
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C0A2E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Kick-off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54864" marR="54864" marT="105156" marB="10515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850" dirty="0">
                          <a:solidFill>
                            <a:srgbClr val="4A4D6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Sensibilização com os avaliadores para envolvê-los e apresentar como a pesquisa vai funcionar.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54864" marR="54864" marT="105156" marB="10515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4A4D6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1h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54864" marR="54864" marT="105156" marB="10515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C0A2E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R$ 630,00</a:t>
                      </a:r>
                      <a:endParaRPr lang="en-US" sz="10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4864" marR="54864" marT="105156" marB="10515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spc="100" kern="0" dirty="0">
                          <a:solidFill>
                            <a:srgbClr val="8B8FA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OPCIONAL
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C0A2E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Curadoria das Perguntas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54864" marR="54864" marT="105156" marB="10515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850" dirty="0">
                          <a:solidFill>
                            <a:srgbClr val="4A4D6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Revisão e personalização do questionário em conjunto com uma especialista.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54864" marR="54864" marT="105156" marB="10515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4A4D6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3h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54864" marR="54864" marT="105156" marB="10515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C0A2E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R$ 1.890,00</a:t>
                      </a:r>
                      <a:endParaRPr lang="en-US" sz="10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4864" marR="54864" marT="105156" marB="10515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spc="100" kern="0" dirty="0">
                          <a:solidFill>
                            <a:srgbClr val="8B8FA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OPCIONAL
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C0A2E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Reunião de Entrega dos Resultados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54864" marR="54864" marT="105156" marB="10515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850" dirty="0">
                          <a:solidFill>
                            <a:srgbClr val="4A4D6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Apresentação dos resultados do relatório principal para diretoria e/ou RH.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54864" marR="54864" marT="105156" marB="10515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4A4D6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2h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54864" marR="54864" marT="105156" marB="10515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C0A2E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R$ 1.260,00</a:t>
                      </a:r>
                      <a:endParaRPr lang="en-US" sz="10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4864" marR="54864" marT="105156" marB="10515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spc="100" kern="0" dirty="0">
                          <a:solidFill>
                            <a:srgbClr val="8B8FA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OPCIONAL
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C0A2E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Construção do Plano de Ação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54864" marR="54864" marT="105156" marB="10515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850" dirty="0">
                          <a:solidFill>
                            <a:srgbClr val="4A4D6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Reunião para construir o plano de ações com base nos resultados da avaliação.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54864" marR="54864" marT="105156" marB="10515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4A4D6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3h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54864" marR="54864" marT="105156" marB="10515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C0A2E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R$ 1.890,00</a:t>
                      </a:r>
                      <a:endParaRPr lang="en-US" sz="10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4864" marR="54864" marT="105156" marB="10515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spc="100" kern="0" dirty="0">
                          <a:solidFill>
                            <a:srgbClr val="8B8FA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OPCIONAL
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C0A2E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Devolutiva para cada Liderança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54864" marR="54864" marT="105156" marB="10515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850" dirty="0">
                          <a:solidFill>
                            <a:srgbClr val="4A4D6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Devolutiva dos resultados individuais para a liderança avaliada, com orientações de desenvolvimento.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54864" marR="54864" marT="105156" marB="10515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4A4D6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1h30 por líder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54864" marR="54864" marT="105156" marB="10515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C0A2E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R$ 945,00 por líder</a:t>
                      </a:r>
                      <a:endParaRPr lang="en-US" sz="10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4864" marR="54864" marT="105156" marB="10515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spc="100" kern="0" dirty="0">
                          <a:solidFill>
                            <a:srgbClr val="8B8FA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OPCIONAL
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C0A2E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Devolutiva dos Resultados Gerais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54864" marR="54864" marT="105156" marB="10515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850" dirty="0">
                          <a:solidFill>
                            <a:srgbClr val="4A4D6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Devolutiva dos resultados gerais e próximos passos para os colaboradores que participaram.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54864" marR="54864" marT="105156" marB="10515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4A4D6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2h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54864" marR="54864" marT="105156" marB="10515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C0A2E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R$ 1.260,00</a:t>
                      </a:r>
                      <a:endParaRPr lang="en-US" sz="10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4864" marR="54864" marT="105156" marB="10515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spc="100" kern="0" dirty="0">
                          <a:solidFill>
                            <a:srgbClr val="8B8FA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OPCIONAL
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C0A2E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Horas Extras de Desenvolvimento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54864" marR="54864" marT="105156" marB="10515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850" dirty="0">
                          <a:solidFill>
                            <a:srgbClr val="4A4D6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Ajustes e customizações adicionais do instrumento.</a:t>
                      </a:r>
                      <a:endParaRPr lang="en-US" sz="8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54864" marR="54864" marT="105156" marB="10515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4A4D6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1h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54864" marR="54864" marT="105156" marB="10515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C0A2E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R$ 630,00/hora</a:t>
                      </a:r>
                      <a:endParaRPr lang="en-US" sz="10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4864" marR="54864" marT="105156" marB="10515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58368" y="5797296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8F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Valor-hora adicional: R$ 630,00. Se algum item ultrapassar a hora estimada, será cobrado valor adicional.</a:t>
            </a:r>
            <a:endParaRPr lang="en-US" sz="800" dirty="0"/>
          </a:p>
        </p:txBody>
      </p:sp>
      <p:pic>
        <p:nvPicPr>
          <p:cNvPr id="7" name="Image 0" descr="/tmp/claude-0/-home-user-salescoach-site/0652e2a4-bf16-5738-8f3f-fcd4ec6a59db/scratchpad/clima/art/marca-tinta.png">    </p:cNvPr>
          <p:cNvPicPr>
            <a:picLocks noChangeAspect="1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>
            <a:off x="658368" y="6291072"/>
            <a:ext cx="566928" cy="20116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71600" y="6272784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60" kern="0" dirty="0">
                <a:solidFill>
                  <a:srgbClr val="8B8F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PROPOSTA COMERCIAL  ·  PESQUISA DE CLIMA E FEEDBACK</a:t>
            </a:r>
            <a:endParaRPr lang="en-US" sz="750" dirty="0"/>
          </a:p>
        </p:txBody>
      </p:sp>
      <p:sp>
        <p:nvSpPr>
          <p:cNvPr id="9" name="Text 5"/>
          <p:cNvSpPr txBox="1"/>
          <p:nvPr/>
        </p:nvSpPr>
        <p:spPr>
          <a:xfrm>
            <a:off x="10618927" y="627278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8B8FA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60350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0F877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INVESTIMENTO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96112"/>
            <a:ext cx="5486400" cy="576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900" dirty="0">
                <a:solidFill>
                  <a:srgbClr val="0C0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Proposta </a:t>
            </a:r>
            <a:pPr indent="0" marL="0">
              <a:lnSpc>
                <a:spcPct val="108000"/>
              </a:lnSpc>
              <a:buNone/>
            </a:pPr>
            <a:r>
              <a:rPr lang="en-US" sz="2900" b="1" dirty="0">
                <a:solidFill>
                  <a:srgbClr val="0C0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 projeto.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852160" y="1024128"/>
            <a:ext cx="56811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D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Preparado para: [Nome do Cliente]   ·   Etapas selecionadas para o seu projeto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700784"/>
          <a:ext cx="7223760" cy="914400"/>
        </p:xfrm>
        <a:graphic>
          <a:graphicData uri="http://schemas.openxmlformats.org/drawingml/2006/table">
            <a:tbl>
              <a:tblPr/>
              <a:tblGrid>
                <a:gridCol w="3154680"/>
                <a:gridCol w="960120"/>
                <a:gridCol w="548640"/>
                <a:gridCol w="1280160"/>
                <a:gridCol w="128016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spc="140" kern="0" dirty="0">
                          <a:solidFill>
                            <a:srgbClr val="8B8FA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ETAPA</a:t>
                      </a:r>
                      <a:endParaRPr lang="en-US" sz="7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4864" marR="54864" marT="0" marB="73152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spc="140" kern="0" dirty="0">
                          <a:solidFill>
                            <a:srgbClr val="8B8FA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CARGA</a:t>
                      </a:r>
                      <a:endParaRPr lang="en-US" sz="7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4864" marR="54864" marT="0" marB="73152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spc="140" kern="0" dirty="0">
                          <a:solidFill>
                            <a:srgbClr val="8B8FA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QTD.</a:t>
                      </a:r>
                      <a:endParaRPr lang="en-US" sz="7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4864" marR="54864" marT="0" marB="73152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spc="140" kern="0" dirty="0">
                          <a:solidFill>
                            <a:srgbClr val="8B8FA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VALOR UNITÁRIO</a:t>
                      </a:r>
                      <a:endParaRPr lang="en-US" sz="7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4864" marR="54864" marT="0" marB="73152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spc="140" kern="0" dirty="0">
                          <a:solidFill>
                            <a:srgbClr val="8B8FA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SUBTOTAL</a:t>
                      </a:r>
                      <a:endParaRPr lang="en-US" sz="7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4864" marR="54864" marT="0" marB="73152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C0A2E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Aplicação do Instrumento (até 100 avaliadores)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4864" marR="54864" marT="205740" marB="2057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4A4D6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—</a:t>
                      </a:r>
                      <a:endParaRPr lang="en-US" sz="9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54864" marR="54864" marT="205740" marB="2057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4A4D6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</a:t>
                      </a:r>
                      <a:endParaRPr lang="en-US" sz="9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54864" marR="54864" marT="205740" marB="2057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4A4D6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R$ 5.800,00</a:t>
                      </a:r>
                      <a:endParaRPr lang="en-US" sz="9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54864" marR="54864" marT="205740" marB="2057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C0A2E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R$ 5.800,00</a:t>
                      </a:r>
                      <a:endParaRPr lang="en-US" sz="9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54864" marR="54864" marT="205740" marB="2057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C0A2E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Kick-off (Sensibilização)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4864" marR="54864" marT="205740" marB="2057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4A4D6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1h</a:t>
                      </a:r>
                      <a:endParaRPr lang="en-US" sz="9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54864" marR="54864" marT="205740" marB="2057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4A4D6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</a:t>
                      </a:r>
                      <a:endParaRPr lang="en-US" sz="9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54864" marR="54864" marT="205740" marB="2057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4A4D6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R$ 630,00</a:t>
                      </a:r>
                      <a:endParaRPr lang="en-US" sz="9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54864" marR="54864" marT="205740" marB="2057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C0A2E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R$ 630,00</a:t>
                      </a:r>
                      <a:endParaRPr lang="en-US" sz="9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54864" marR="54864" marT="205740" marB="2057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C0A2E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Curadoria das Perguntas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4864" marR="54864" marT="205740" marB="2057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4A4D6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3h</a:t>
                      </a:r>
                      <a:endParaRPr lang="en-US" sz="9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54864" marR="54864" marT="205740" marB="2057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4A4D6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</a:t>
                      </a:r>
                      <a:endParaRPr lang="en-US" sz="9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54864" marR="54864" marT="205740" marB="2057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4A4D6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R$ 1.890,00</a:t>
                      </a:r>
                      <a:endParaRPr lang="en-US" sz="9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54864" marR="54864" marT="205740" marB="2057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C0A2E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R$ 1.890,00</a:t>
                      </a:r>
                      <a:endParaRPr lang="en-US" sz="9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54864" marR="54864" marT="205740" marB="2057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C0A2E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Reunião de Entrega dos Resultados · Diretoria/RH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4864" marR="54864" marT="205740" marB="2057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4A4D6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2h</a:t>
                      </a:r>
                      <a:endParaRPr lang="en-US" sz="9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54864" marR="54864" marT="205740" marB="2057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4A4D6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</a:t>
                      </a:r>
                      <a:endParaRPr lang="en-US" sz="9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54864" marR="54864" marT="205740" marB="2057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4A4D6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R$ 1.260,00</a:t>
                      </a:r>
                      <a:endParaRPr lang="en-US" sz="9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54864" marR="54864" marT="205740" marB="2057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C0A2E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R$ 1.260,00</a:t>
                      </a:r>
                      <a:endParaRPr lang="en-US" sz="9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54864" marR="54864" marT="205740" marB="2057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C0A2E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Reunião de Construção do Plano de Ação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4864" marR="54864" marT="205740" marB="2057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4A4D6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3h</a:t>
                      </a:r>
                      <a:endParaRPr lang="en-US" sz="9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54864" marR="54864" marT="205740" marB="2057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4A4D6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</a:t>
                      </a:r>
                      <a:endParaRPr lang="en-US" sz="9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54864" marR="54864" marT="205740" marB="2057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4A4D6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R$ 1.890,00</a:t>
                      </a:r>
                      <a:endParaRPr lang="en-US" sz="9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54864" marR="54864" marT="205740" marB="2057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C0A2E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R$ 1.890,00</a:t>
                      </a:r>
                      <a:endParaRPr lang="en-US" sz="9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54864" marR="54864" marT="205740" marB="2057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C0A2E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Devolutiva para cada Liderança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4864" marR="54864" marT="205740" marB="2057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4A4D6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1h30/líder</a:t>
                      </a:r>
                      <a:endParaRPr lang="en-US" sz="9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54864" marR="54864" marT="205740" marB="2057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4A4D6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7</a:t>
                      </a:r>
                      <a:endParaRPr lang="en-US" sz="9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54864" marR="54864" marT="205740" marB="2057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4A4D6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R$ 945,00</a:t>
                      </a:r>
                      <a:endParaRPr lang="en-US" sz="9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54864" marR="54864" marT="205740" marB="2057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C0A2E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R$ 6.615,00</a:t>
                      </a:r>
                      <a:endParaRPr lang="en-US" sz="9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54864" marR="54864" marT="205740" marB="2057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C0A2E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Devolutiva dos Resultados Gerais aos Avaliadores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4864" marR="54864" marT="205740" marB="2057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4A4D6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2h</a:t>
                      </a:r>
                      <a:endParaRPr lang="en-US" sz="9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54864" marR="54864" marT="205740" marB="2057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4A4D6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</a:t>
                      </a:r>
                      <a:endParaRPr lang="en-US" sz="9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54864" marR="54864" marT="205740" marB="2057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4A4D6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R$ 1.260,00</a:t>
                      </a:r>
                      <a:endParaRPr lang="en-US" sz="9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54864" marR="54864" marT="205740" marB="2057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C0A2E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R$ 1.260,00</a:t>
                      </a:r>
                      <a:endParaRPr lang="en-US" sz="9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54864" marR="54864" marT="205740" marB="2057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174736" y="1700784"/>
            <a:ext cx="3358591" cy="2011680"/>
          </a:xfrm>
          <a:prstGeom prst="roundRect">
            <a:avLst>
              <a:gd name="adj" fmla="val 8182"/>
            </a:avLst>
          </a:prstGeom>
          <a:solidFill>
            <a:srgbClr val="120573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254000" dist="88900" dir="5400000">
              <a:srgbClr val="0C0A2E">
                <a:alpha val="26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485632" y="1956816"/>
            <a:ext cx="27367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6CD8C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INVESTIMENTO TOTAL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8485632" y="2267712"/>
            <a:ext cx="273679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R$ 19.345,00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8485632" y="3035808"/>
            <a:ext cx="2736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CC6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etapas  ·  7 lideranças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8174736" y="3931920"/>
            <a:ext cx="19479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F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Forma de pagamento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9854032" y="3931920"/>
            <a:ext cx="1679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C0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combinar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8174736" y="4315968"/>
            <a:ext cx="3358591" cy="0"/>
          </a:xfrm>
          <a:prstGeom prst="line">
            <a:avLst/>
          </a:prstGeom>
          <a:noFill/>
          <a:ln w="9525">
            <a:solidFill>
              <a:srgbClr val="E4E7F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174736" y="4462272"/>
            <a:ext cx="19479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F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Início previsto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9854032" y="4462272"/>
            <a:ext cx="1679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C0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combinar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8174736" y="4846320"/>
            <a:ext cx="3358591" cy="0"/>
          </a:xfrm>
          <a:prstGeom prst="line">
            <a:avLst/>
          </a:prstGeom>
          <a:noFill/>
          <a:ln w="9525">
            <a:solidFill>
              <a:srgbClr val="E4E7F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174736" y="4992624"/>
            <a:ext cx="19479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F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Validade da proposta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9854032" y="4992624"/>
            <a:ext cx="1679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C0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30 dias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174736" y="5376672"/>
            <a:ext cx="3358591" cy="0"/>
          </a:xfrm>
          <a:prstGeom prst="line">
            <a:avLst/>
          </a:prstGeom>
          <a:noFill/>
          <a:ln w="9525">
            <a:solidFill>
              <a:srgbClr val="E4E7F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174736" y="5522976"/>
            <a:ext cx="19479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F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Formato das reuniões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9854032" y="5522976"/>
            <a:ext cx="1679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C0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online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658368" y="5742432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i="1" dirty="0">
                <a:solidFill>
                  <a:srgbClr val="8B8F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Para a execução presencial de alguma etapa (sob consulta), os custos de deslocamento, hospedagem, alimentação das consultoras e demais despesas são de responsabilidade do cliente.</a:t>
            </a:r>
            <a:endParaRPr lang="en-US" sz="800" dirty="0"/>
          </a:p>
        </p:txBody>
      </p:sp>
      <p:pic>
        <p:nvPicPr>
          <p:cNvPr id="22" name="Image 0" descr="/tmp/claude-0/-home-user-salescoach-site/0652e2a4-bf16-5738-8f3f-fcd4ec6a59db/scratchpad/clima/art/marca-tinta.png">    </p:cNvPr>
          <p:cNvPicPr>
            <a:picLocks noChangeAspect="1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>
            <a:off x="658368" y="6291072"/>
            <a:ext cx="566928" cy="201168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1371600" y="6272784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60" kern="0" dirty="0">
                <a:solidFill>
                  <a:srgbClr val="8B8F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PROPOSTA COMERCIAL  ·  PESQUISA DE CLIMA E FEEDBACK</a:t>
            </a:r>
            <a:endParaRPr lang="en-US" sz="750" dirty="0"/>
          </a:p>
        </p:txBody>
      </p:sp>
      <p:sp>
        <p:nvSpPr>
          <p:cNvPr id="24" name="Text 20"/>
          <p:cNvSpPr txBox="1"/>
          <p:nvPr/>
        </p:nvSpPr>
        <p:spPr>
          <a:xfrm>
            <a:off x="10618927" y="627278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8B8FA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alescoach-site/0652e2a4-bf16-5738-8f3f-fcd4ec6a59db/scratchpad/clima/art/marca-branc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566928"/>
            <a:ext cx="1115568" cy="3931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58368" y="208483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6CD8C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CONTATO</a:t>
            </a:r>
            <a:endParaRPr lang="en-US" sz="950" dirty="0"/>
          </a:p>
        </p:txBody>
      </p:sp>
      <p:sp>
        <p:nvSpPr>
          <p:cNvPr id="4" name="Text 1"/>
          <p:cNvSpPr txBox="1"/>
          <p:nvPr/>
        </p:nvSpPr>
        <p:spPr>
          <a:xfrm>
            <a:off x="658368" y="2395728"/>
            <a:ext cx="5852160" cy="795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dirty="0">
                <a:solidFill>
                  <a:srgbClr val="E6EA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Vamos ouvir 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seu time?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658368" y="4078224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200" dirty="0">
                <a:solidFill>
                  <a:srgbClr val="AEB8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Escolha as etapas, defina a data de aplicação e em poucas semanas o clima da sua empresa deixa de ser percepção e passa a ser dado.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766560" y="1993392"/>
            <a:ext cx="4766767" cy="2926080"/>
          </a:xfrm>
          <a:prstGeom prst="roundRect">
            <a:avLst>
              <a:gd name="adj" fmla="val 5625"/>
            </a:avLst>
          </a:prstGeom>
          <a:solidFill>
            <a:srgbClr val="0C0740"/>
          </a:solidFill>
          <a:ln w="11430">
            <a:solidFill>
              <a:srgbClr val="2A217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168896" y="2340864"/>
            <a:ext cx="3962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Taís Oliari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7168896" y="2798064"/>
            <a:ext cx="3962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D8C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Comercial · Grou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7168896" y="3310128"/>
            <a:ext cx="3962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3DA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tais.oliari@grougp.com.br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168896" y="3712464"/>
            <a:ext cx="3962095" cy="0"/>
          </a:xfrm>
          <a:prstGeom prst="line">
            <a:avLst/>
          </a:prstGeom>
          <a:noFill/>
          <a:ln w="9525">
            <a:solidFill>
              <a:srgbClr val="221A6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168896" y="3767328"/>
            <a:ext cx="3962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3DA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+55 (51) 99229-2904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168896" y="4169664"/>
            <a:ext cx="3962095" cy="0"/>
          </a:xfrm>
          <a:prstGeom prst="line">
            <a:avLst/>
          </a:prstGeom>
          <a:noFill/>
          <a:ln w="9525">
            <a:solidFill>
              <a:srgbClr val="221A6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168896" y="4224528"/>
            <a:ext cx="3962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3DA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www.grougp.com.br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58368" y="5230368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0E0A48"/>
          </a:solidFill>
          <a:ln w="9525">
            <a:solidFill>
              <a:srgbClr val="2A217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58368" y="523036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60" kern="0" dirty="0">
                <a:solidFill>
                  <a:srgbClr val="6CD8C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@grou_gp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258568" y="5230368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0E0A48"/>
          </a:solidFill>
          <a:ln w="9525">
            <a:solidFill>
              <a:srgbClr val="2A217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2258568" y="523036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60" kern="0" dirty="0">
                <a:solidFill>
                  <a:srgbClr val="6CD8C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@grou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858768" y="5230368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0E0A48"/>
          </a:solidFill>
          <a:ln w="9525">
            <a:solidFill>
              <a:srgbClr val="2A217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858768" y="523036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60" kern="0" dirty="0">
                <a:solidFill>
                  <a:srgbClr val="6CD8C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Passa no RH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Grou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Proposta Comercial — Pesquisa de Clima e Feedback</dc:title>
  <dc:subject>PptxGenJS Presentation</dc:subject>
  <dc:creator>Grou</dc:creator>
  <cp:lastModifiedBy>Grou</cp:lastModifiedBy>
  <cp:revision>1</cp:revision>
  <dcterms:created xsi:type="dcterms:W3CDTF">2026-09-23T21:26:02Z</dcterms:created>
  <dcterms:modified xsi:type="dcterms:W3CDTF">2026-09-23T21:26:02Z</dcterms:modified>
</cp:coreProperties>
</file>